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15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15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29590C-AFCC-47F8-886C-F8EBD1786F20}" type="datetimeFigureOut">
              <a:rPr lang="en-150" smtClean="0"/>
              <a:t>26/10/2026</a:t>
            </a:fld>
            <a:endParaRPr lang="en-15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15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15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F5D92A-D26D-4C98-AA10-B3337C3FCBE0}" type="slidenum">
              <a:rPr lang="en-150" smtClean="0"/>
              <a:t>‹#›</a:t>
            </a:fld>
            <a:endParaRPr lang="en-150"/>
          </a:p>
        </p:txBody>
      </p:sp>
    </p:spTree>
    <p:extLst>
      <p:ext uri="{BB962C8B-B14F-4D97-AF65-F5344CB8AC3E}">
        <p14:creationId xmlns:p14="http://schemas.microsoft.com/office/powerpoint/2010/main" val="13613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with the engineering constraint, not a claim of reproducing NVIDIA scale. This is built with Qwen and inspired by Minitron. The project contribution is a controlled, auditable compression and systems study.</a:t>
            </a:r>
            <a:endParaRPr lang="en-150"/>
          </a:p>
        </p:txBody>
      </p:sp>
      <p:sp>
        <p:nvSpPr>
          <p:cNvPr id="4" name="Slide Number Placeholder 3"/>
          <p:cNvSpPr>
            <a:spLocks noGrp="1"/>
          </p:cNvSpPr>
          <p:nvPr>
            <p:ph type="sldNum" sz="quarter" idx="5"/>
          </p:nvPr>
        </p:nvSpPr>
        <p:spPr/>
        <p:txBody>
          <a:bodyPr/>
          <a:lstStyle/>
          <a:p>
            <a:fld id="{83F5D92A-D26D-4C98-AA10-B3337C3FCBE0}" type="slidenum">
              <a:rPr lang="en-150" smtClean="0"/>
              <a:t>1</a:t>
            </a:fld>
            <a:endParaRPr lang="en-150"/>
          </a:p>
        </p:txBody>
      </p:sp>
    </p:spTree>
    <p:extLst>
      <p:ext uri="{BB962C8B-B14F-4D97-AF65-F5344CB8AC3E}">
        <p14:creationId xmlns:p14="http://schemas.microsoft.com/office/powerpoint/2010/main" val="3712462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that pruning loss and post-recovery quality need not rank architectures identically. Perplexity and downstream task accuracy are different objectives. Negative and metric-dependent results are scientifically useful.</a:t>
            </a:r>
            <a:endParaRPr lang="en-150"/>
          </a:p>
        </p:txBody>
      </p:sp>
      <p:sp>
        <p:nvSpPr>
          <p:cNvPr id="4" name="Slide Number Placeholder 3"/>
          <p:cNvSpPr>
            <a:spLocks noGrp="1"/>
          </p:cNvSpPr>
          <p:nvPr>
            <p:ph type="sldNum" sz="quarter" idx="5"/>
          </p:nvPr>
        </p:nvSpPr>
        <p:spPr/>
        <p:txBody>
          <a:bodyPr/>
          <a:lstStyle/>
          <a:p>
            <a:fld id="{83F5D92A-D26D-4C98-AA10-B3337C3FCBE0}" type="slidenum">
              <a:rPr lang="en-150" smtClean="0"/>
              <a:t>2</a:t>
            </a:fld>
            <a:endParaRPr lang="en-150"/>
          </a:p>
        </p:txBody>
      </p:sp>
    </p:spTree>
    <p:extLst>
      <p:ext uri="{BB962C8B-B14F-4D97-AF65-F5344CB8AC3E}">
        <p14:creationId xmlns:p14="http://schemas.microsoft.com/office/powerpoint/2010/main" val="189393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 are 12 KL recovery runs and six CE controls. Seeds are 42, 123 and 2026. Both methods use the same architecture within each compression level. This is not a broad hyperparameter sweep.</a:t>
            </a:r>
            <a:endParaRPr lang="en-150"/>
          </a:p>
        </p:txBody>
      </p:sp>
      <p:sp>
        <p:nvSpPr>
          <p:cNvPr id="4" name="Slide Number Placeholder 3"/>
          <p:cNvSpPr>
            <a:spLocks noGrp="1"/>
          </p:cNvSpPr>
          <p:nvPr>
            <p:ph type="sldNum" sz="quarter" idx="5"/>
          </p:nvPr>
        </p:nvSpPr>
        <p:spPr/>
        <p:txBody>
          <a:bodyPr/>
          <a:lstStyle/>
          <a:p>
            <a:fld id="{83F5D92A-D26D-4C98-AA10-B3337C3FCBE0}" type="slidenum">
              <a:rPr lang="en-150" smtClean="0"/>
              <a:t>3</a:t>
            </a:fld>
            <a:endParaRPr lang="en-150"/>
          </a:p>
        </p:txBody>
      </p:sp>
    </p:spTree>
    <p:extLst>
      <p:ext uri="{BB962C8B-B14F-4D97-AF65-F5344CB8AC3E}">
        <p14:creationId xmlns:p14="http://schemas.microsoft.com/office/powerpoint/2010/main" val="3402445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Qwen gated FFN needs three coupled slices. Residual hidden width remains 2048. The depth procedure is different from the old pilot individual-layer ranking; never mix their provenance.</a:t>
            </a:r>
            <a:endParaRPr lang="en-150"/>
          </a:p>
        </p:txBody>
      </p:sp>
      <p:sp>
        <p:nvSpPr>
          <p:cNvPr id="4" name="Slide Number Placeholder 3"/>
          <p:cNvSpPr>
            <a:spLocks noGrp="1"/>
          </p:cNvSpPr>
          <p:nvPr>
            <p:ph type="sldNum" sz="quarter" idx="5"/>
          </p:nvPr>
        </p:nvSpPr>
        <p:spPr/>
        <p:txBody>
          <a:bodyPr/>
          <a:lstStyle/>
          <a:p>
            <a:fld id="{83F5D92A-D26D-4C98-AA10-B3337C3FCBE0}" type="slidenum">
              <a:rPr lang="en-150" smtClean="0"/>
              <a:t>4</a:t>
            </a:fld>
            <a:endParaRPr lang="en-150"/>
          </a:p>
        </p:txBody>
      </p:sp>
    </p:spTree>
    <p:extLst>
      <p:ext uri="{BB962C8B-B14F-4D97-AF65-F5344CB8AC3E}">
        <p14:creationId xmlns:p14="http://schemas.microsoft.com/office/powerpoint/2010/main" val="3554406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one depth-window position and its NLL increase. The accompanying FFN map in the report is a magnitude distribution, not an individually ablated neuron causal-effect map.</a:t>
            </a:r>
            <a:endParaRPr lang="en-150"/>
          </a:p>
        </p:txBody>
      </p:sp>
      <p:sp>
        <p:nvSpPr>
          <p:cNvPr id="4" name="Slide Number Placeholder 3"/>
          <p:cNvSpPr>
            <a:spLocks noGrp="1"/>
          </p:cNvSpPr>
          <p:nvPr>
            <p:ph type="sldNum" sz="quarter" idx="5"/>
          </p:nvPr>
        </p:nvSpPr>
        <p:spPr/>
        <p:txBody>
          <a:bodyPr/>
          <a:lstStyle/>
          <a:p>
            <a:fld id="{83F5D92A-D26D-4C98-AA10-B3337C3FCBE0}" type="slidenum">
              <a:rPr lang="en-150" smtClean="0"/>
              <a:t>5</a:t>
            </a:fld>
            <a:endParaRPr lang="en-150"/>
          </a:p>
        </p:txBody>
      </p:sp>
    </p:spTree>
    <p:extLst>
      <p:ext uri="{BB962C8B-B14F-4D97-AF65-F5344CB8AC3E}">
        <p14:creationId xmlns:p14="http://schemas.microsoft.com/office/powerpoint/2010/main" val="3529235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Distinguish teacher targets from hidden states. Full-vocabulary logits retain the exact objective, unlike top-k coarsening. Cached shards are deleted only after all consumers have durable receipts. LoRA is not full-weight Minitron recovery.</a:t>
            </a:r>
            <a:endParaRPr lang="en-150"/>
          </a:p>
        </p:txBody>
      </p:sp>
      <p:sp>
        <p:nvSpPr>
          <p:cNvPr id="4" name="Slide Number Placeholder 3"/>
          <p:cNvSpPr>
            <a:spLocks noGrp="1"/>
          </p:cNvSpPr>
          <p:nvPr>
            <p:ph type="sldNum" sz="quarter" idx="5"/>
          </p:nvPr>
        </p:nvSpPr>
        <p:spPr/>
        <p:txBody>
          <a:bodyPr/>
          <a:lstStyle/>
          <a:p>
            <a:fld id="{83F5D92A-D26D-4C98-AA10-B3337C3FCBE0}" type="slidenum">
              <a:rPr lang="en-150" smtClean="0"/>
              <a:t>6</a:t>
            </a:fld>
            <a:endParaRPr lang="en-150"/>
          </a:p>
        </p:txBody>
      </p:sp>
    </p:spTree>
    <p:extLst>
      <p:ext uri="{BB962C8B-B14F-4D97-AF65-F5344CB8AC3E}">
        <p14:creationId xmlns:p14="http://schemas.microsoft.com/office/powerpoint/2010/main" val="2151785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arithmetic means and sample SD over only three seeds. The graph uses mean test NLL; the body uses mean seed perplexity. The finite observed Pareto frontier is descriptive. Do not imply an unmeasured compression-ratio law.</a:t>
            </a:r>
            <a:endParaRPr lang="en-150"/>
          </a:p>
        </p:txBody>
      </p:sp>
      <p:sp>
        <p:nvSpPr>
          <p:cNvPr id="4" name="Slide Number Placeholder 3"/>
          <p:cNvSpPr>
            <a:spLocks noGrp="1"/>
          </p:cNvSpPr>
          <p:nvPr>
            <p:ph type="sldNum" sz="quarter" idx="5"/>
          </p:nvPr>
        </p:nvSpPr>
        <p:spPr/>
        <p:txBody>
          <a:bodyPr/>
          <a:lstStyle/>
          <a:p>
            <a:fld id="{83F5D92A-D26D-4C98-AA10-B3337C3FCBE0}" type="slidenum">
              <a:rPr lang="en-150" smtClean="0"/>
              <a:t>7</a:t>
            </a:fld>
            <a:endParaRPr lang="en-150"/>
          </a:p>
        </p:txBody>
      </p:sp>
    </p:spTree>
    <p:extLst>
      <p:ext uri="{BB962C8B-B14F-4D97-AF65-F5344CB8AC3E}">
        <p14:creationId xmlns:p14="http://schemas.microsoft.com/office/powerpoint/2010/main" val="3486609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Lower NLL is better and higher PIQA is better. A negative KL-minus-CE NLL difference favours KD; the measured positive differences here favour CE on perplexity. The small mean PIQA advantage of KL is not evidence of statistical superiority. The control matches initialization, structure, order, learning rate and tokens. This does not prove a 50-times token-efficiency claim.</a:t>
            </a:r>
            <a:endParaRPr lang="en-150"/>
          </a:p>
        </p:txBody>
      </p:sp>
      <p:sp>
        <p:nvSpPr>
          <p:cNvPr id="4" name="Slide Number Placeholder 3"/>
          <p:cNvSpPr>
            <a:spLocks noGrp="1"/>
          </p:cNvSpPr>
          <p:nvPr>
            <p:ph type="sldNum" sz="quarter" idx="5"/>
          </p:nvPr>
        </p:nvSpPr>
        <p:spPr/>
        <p:txBody>
          <a:bodyPr/>
          <a:lstStyle/>
          <a:p>
            <a:fld id="{83F5D92A-D26D-4C98-AA10-B3337C3FCBE0}" type="slidenum">
              <a:rPr lang="en-150" smtClean="0"/>
              <a:t>8</a:t>
            </a:fld>
            <a:endParaRPr lang="en-150"/>
          </a:p>
        </p:txBody>
      </p:sp>
    </p:spTree>
    <p:extLst>
      <p:ext uri="{BB962C8B-B14F-4D97-AF65-F5344CB8AC3E}">
        <p14:creationId xmlns:p14="http://schemas.microsoft.com/office/powerpoint/2010/main" val="336886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reduced model demonstrates algorithmic correctness, not 3B CPU training robustness. The real deployment comparison mixes hardware and precision, so the tiny same-weight FP32 experiment provides a clean device comparison. Byte-model and subword-model perplexities are not comparable.</a:t>
            </a:r>
            <a:endParaRPr lang="en-150"/>
          </a:p>
        </p:txBody>
      </p:sp>
      <p:sp>
        <p:nvSpPr>
          <p:cNvPr id="4" name="Slide Number Placeholder 3"/>
          <p:cNvSpPr>
            <a:spLocks noGrp="1"/>
          </p:cNvSpPr>
          <p:nvPr>
            <p:ph type="sldNum" sz="quarter" idx="5"/>
          </p:nvPr>
        </p:nvSpPr>
        <p:spPr/>
        <p:txBody>
          <a:bodyPr/>
          <a:lstStyle/>
          <a:p>
            <a:fld id="{83F5D92A-D26D-4C98-AA10-B3337C3FCBE0}" type="slidenum">
              <a:rPr lang="en-150" smtClean="0"/>
              <a:t>9</a:t>
            </a:fld>
            <a:endParaRPr lang="en-150"/>
          </a:p>
        </p:txBody>
      </p:sp>
    </p:spTree>
    <p:extLst>
      <p:ext uri="{BB962C8B-B14F-4D97-AF65-F5344CB8AC3E}">
        <p14:creationId xmlns:p14="http://schemas.microsoft.com/office/powerpoint/2010/main" val="432711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CPU FP32/CUDA FP16 deployment ratios, not pure hardware speedups. Report observed sampled lengths only; when GPU already wins the smallest case, the exact crossover remains unknown below the sampled range. Check the matched-FP32 tiny plot for overhead-dominated cases.</a:t>
            </a:r>
            <a:endParaRPr lang="en-150"/>
          </a:p>
        </p:txBody>
      </p:sp>
      <p:sp>
        <p:nvSpPr>
          <p:cNvPr id="4" name="Slide Number Placeholder 3"/>
          <p:cNvSpPr>
            <a:spLocks noGrp="1"/>
          </p:cNvSpPr>
          <p:nvPr>
            <p:ph type="sldNum" sz="quarter" idx="5"/>
          </p:nvPr>
        </p:nvSpPr>
        <p:spPr/>
        <p:txBody>
          <a:bodyPr/>
          <a:lstStyle/>
          <a:p>
            <a:fld id="{83F5D92A-D26D-4C98-AA10-B3337C3FCBE0}" type="slidenum">
              <a:rPr lang="en-150" smtClean="0"/>
              <a:t>10</a:t>
            </a:fld>
            <a:endParaRPr lang="en-150"/>
          </a:p>
        </p:txBody>
      </p:sp>
    </p:spTree>
    <p:extLst>
      <p:ext uri="{BB962C8B-B14F-4D97-AF65-F5344CB8AC3E}">
        <p14:creationId xmlns:p14="http://schemas.microsoft.com/office/powerpoint/2010/main" val="4175312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Allocator peaks are not total board memory. Temperature is sampled, not a continuous hardware assurance; CPU temperature was unavailable. No overclocking or driver changes. A Windows fsync issue was logged and corrected before main training, with no experimental-design change.</a:t>
            </a:r>
            <a:endParaRPr lang="en-150"/>
          </a:p>
        </p:txBody>
      </p:sp>
      <p:sp>
        <p:nvSpPr>
          <p:cNvPr id="4" name="Slide Number Placeholder 3"/>
          <p:cNvSpPr>
            <a:spLocks noGrp="1"/>
          </p:cNvSpPr>
          <p:nvPr>
            <p:ph type="sldNum" sz="quarter" idx="5"/>
          </p:nvPr>
        </p:nvSpPr>
        <p:spPr/>
        <p:txBody>
          <a:bodyPr/>
          <a:lstStyle/>
          <a:p>
            <a:fld id="{83F5D92A-D26D-4C98-AA10-B3337C3FCBE0}" type="slidenum">
              <a:rPr lang="en-150" smtClean="0"/>
              <a:t>11</a:t>
            </a:fld>
            <a:endParaRPr lang="en-150"/>
          </a:p>
        </p:txBody>
      </p:sp>
    </p:spTree>
    <p:extLst>
      <p:ext uri="{BB962C8B-B14F-4D97-AF65-F5344CB8AC3E}">
        <p14:creationId xmlns:p14="http://schemas.microsoft.com/office/powerpoint/2010/main" val="848651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with the actual outcomes from the tables, including any negative results. Qwen2.5-3B uses a noncommercial research license. TensorRT-LLM was conditionally excluded because the cited release requires Linux, while this environment is native Windows. Do not present PyTorch throughput as TensorRT. References: supplied Minitron technical report, question-bank p1/pp20–21, official Qwen and NVIDIA documentation.</a:t>
            </a:r>
            <a:endParaRPr lang="en-150"/>
          </a:p>
        </p:txBody>
      </p:sp>
      <p:sp>
        <p:nvSpPr>
          <p:cNvPr id="4" name="Slide Number Placeholder 3"/>
          <p:cNvSpPr>
            <a:spLocks noGrp="1"/>
          </p:cNvSpPr>
          <p:nvPr>
            <p:ph type="sldNum" sz="quarter" idx="5"/>
          </p:nvPr>
        </p:nvSpPr>
        <p:spPr/>
        <p:txBody>
          <a:bodyPr/>
          <a:lstStyle/>
          <a:p>
            <a:fld id="{83F5D92A-D26D-4C98-AA10-B3337C3FCBE0}" type="slidenum">
              <a:rPr lang="en-150" smtClean="0"/>
              <a:t>12</a:t>
            </a:fld>
            <a:endParaRPr lang="en-150"/>
          </a:p>
        </p:txBody>
      </p:sp>
    </p:spTree>
    <p:extLst>
      <p:ext uri="{BB962C8B-B14F-4D97-AF65-F5344CB8AC3E}">
        <p14:creationId xmlns:p14="http://schemas.microsoft.com/office/powerpoint/2010/main" val="32718503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3C5BF-81FF-B659-4558-2641C9024D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150"/>
          </a:p>
        </p:txBody>
      </p:sp>
      <p:sp>
        <p:nvSpPr>
          <p:cNvPr id="3" name="Subtitle 2">
            <a:extLst>
              <a:ext uri="{FF2B5EF4-FFF2-40B4-BE49-F238E27FC236}">
                <a16:creationId xmlns:a16="http://schemas.microsoft.com/office/drawing/2014/main" id="{05633371-7806-0AC4-4F5F-89C5E85F2C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150"/>
          </a:p>
        </p:txBody>
      </p:sp>
      <p:sp>
        <p:nvSpPr>
          <p:cNvPr id="4" name="Date Placeholder 3">
            <a:extLst>
              <a:ext uri="{FF2B5EF4-FFF2-40B4-BE49-F238E27FC236}">
                <a16:creationId xmlns:a16="http://schemas.microsoft.com/office/drawing/2014/main" id="{4389C290-25BA-2B97-65ED-886F9451ACCB}"/>
              </a:ext>
            </a:extLst>
          </p:cNvPr>
          <p:cNvSpPr>
            <a:spLocks noGrp="1"/>
          </p:cNvSpPr>
          <p:nvPr>
            <p:ph type="dt" sz="half" idx="10"/>
          </p:nvPr>
        </p:nvSpPr>
        <p:spPr/>
        <p:txBody>
          <a:bodyPr/>
          <a:lstStyle/>
          <a:p>
            <a:fld id="{28A79F54-38CD-430F-B2A3-583392FA0233}" type="datetimeFigureOut">
              <a:rPr lang="en-150" smtClean="0"/>
              <a:t>26/10/2026</a:t>
            </a:fld>
            <a:endParaRPr lang="en-150"/>
          </a:p>
        </p:txBody>
      </p:sp>
      <p:sp>
        <p:nvSpPr>
          <p:cNvPr id="5" name="Footer Placeholder 4">
            <a:extLst>
              <a:ext uri="{FF2B5EF4-FFF2-40B4-BE49-F238E27FC236}">
                <a16:creationId xmlns:a16="http://schemas.microsoft.com/office/drawing/2014/main" id="{118F317C-28A7-3595-CEAD-AF40FB77404F}"/>
              </a:ext>
            </a:extLst>
          </p:cNvPr>
          <p:cNvSpPr>
            <a:spLocks noGrp="1"/>
          </p:cNvSpPr>
          <p:nvPr>
            <p:ph type="ftr" sz="quarter" idx="11"/>
          </p:nvPr>
        </p:nvSpPr>
        <p:spPr/>
        <p:txBody>
          <a:bodyPr/>
          <a:lstStyle/>
          <a:p>
            <a:endParaRPr lang="en-150"/>
          </a:p>
        </p:txBody>
      </p:sp>
      <p:sp>
        <p:nvSpPr>
          <p:cNvPr id="6" name="Slide Number Placeholder 5">
            <a:extLst>
              <a:ext uri="{FF2B5EF4-FFF2-40B4-BE49-F238E27FC236}">
                <a16:creationId xmlns:a16="http://schemas.microsoft.com/office/drawing/2014/main" id="{72A7E80F-D910-83C8-6E53-C695E1873264}"/>
              </a:ext>
            </a:extLst>
          </p:cNvPr>
          <p:cNvSpPr>
            <a:spLocks noGrp="1"/>
          </p:cNvSpPr>
          <p:nvPr>
            <p:ph type="sldNum" sz="quarter" idx="12"/>
          </p:nvPr>
        </p:nvSpPr>
        <p:spPr/>
        <p:txBody>
          <a:bodyPr/>
          <a:lstStyle/>
          <a:p>
            <a:fld id="{483134EA-AF8E-4025-9293-54B9F96F6B5B}" type="slidenum">
              <a:rPr lang="en-150" smtClean="0"/>
              <a:t>‹#›</a:t>
            </a:fld>
            <a:endParaRPr lang="en-150"/>
          </a:p>
        </p:txBody>
      </p:sp>
    </p:spTree>
    <p:extLst>
      <p:ext uri="{BB962C8B-B14F-4D97-AF65-F5344CB8AC3E}">
        <p14:creationId xmlns:p14="http://schemas.microsoft.com/office/powerpoint/2010/main" val="633802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082E3-5870-EF83-075A-2ED0A993DCD0}"/>
              </a:ext>
            </a:extLst>
          </p:cNvPr>
          <p:cNvSpPr>
            <a:spLocks noGrp="1"/>
          </p:cNvSpPr>
          <p:nvPr>
            <p:ph type="title"/>
          </p:nvPr>
        </p:nvSpPr>
        <p:spPr/>
        <p:txBody>
          <a:bodyPr/>
          <a:lstStyle/>
          <a:p>
            <a:r>
              <a:rPr lang="en-US"/>
              <a:t>Click to edit Master title style</a:t>
            </a:r>
            <a:endParaRPr lang="en-150"/>
          </a:p>
        </p:txBody>
      </p:sp>
      <p:sp>
        <p:nvSpPr>
          <p:cNvPr id="3" name="Content Placeholder 2">
            <a:extLst>
              <a:ext uri="{FF2B5EF4-FFF2-40B4-BE49-F238E27FC236}">
                <a16:creationId xmlns:a16="http://schemas.microsoft.com/office/drawing/2014/main" id="{4F378E0C-7BE5-EE4B-8C99-274D5D7D3B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4" name="Date Placeholder 3">
            <a:extLst>
              <a:ext uri="{FF2B5EF4-FFF2-40B4-BE49-F238E27FC236}">
                <a16:creationId xmlns:a16="http://schemas.microsoft.com/office/drawing/2014/main" id="{55B66661-DA5E-E1FE-A4B9-EE7DF95C5086}"/>
              </a:ext>
            </a:extLst>
          </p:cNvPr>
          <p:cNvSpPr>
            <a:spLocks noGrp="1"/>
          </p:cNvSpPr>
          <p:nvPr>
            <p:ph type="dt" sz="half" idx="10"/>
          </p:nvPr>
        </p:nvSpPr>
        <p:spPr/>
        <p:txBody>
          <a:bodyPr/>
          <a:lstStyle/>
          <a:p>
            <a:fld id="{28A79F54-38CD-430F-B2A3-583392FA0233}" type="datetimeFigureOut">
              <a:rPr lang="en-150" smtClean="0"/>
              <a:t>26/10/2026</a:t>
            </a:fld>
            <a:endParaRPr lang="en-150"/>
          </a:p>
        </p:txBody>
      </p:sp>
      <p:sp>
        <p:nvSpPr>
          <p:cNvPr id="5" name="Footer Placeholder 4">
            <a:extLst>
              <a:ext uri="{FF2B5EF4-FFF2-40B4-BE49-F238E27FC236}">
                <a16:creationId xmlns:a16="http://schemas.microsoft.com/office/drawing/2014/main" id="{C2B3A6B9-E6BA-22BE-7798-10D4BC6C5C38}"/>
              </a:ext>
            </a:extLst>
          </p:cNvPr>
          <p:cNvSpPr>
            <a:spLocks noGrp="1"/>
          </p:cNvSpPr>
          <p:nvPr>
            <p:ph type="ftr" sz="quarter" idx="11"/>
          </p:nvPr>
        </p:nvSpPr>
        <p:spPr/>
        <p:txBody>
          <a:bodyPr/>
          <a:lstStyle/>
          <a:p>
            <a:endParaRPr lang="en-150"/>
          </a:p>
        </p:txBody>
      </p:sp>
      <p:sp>
        <p:nvSpPr>
          <p:cNvPr id="6" name="Slide Number Placeholder 5">
            <a:extLst>
              <a:ext uri="{FF2B5EF4-FFF2-40B4-BE49-F238E27FC236}">
                <a16:creationId xmlns:a16="http://schemas.microsoft.com/office/drawing/2014/main" id="{248DAFA3-C686-6110-2064-74F5B8E5DB42}"/>
              </a:ext>
            </a:extLst>
          </p:cNvPr>
          <p:cNvSpPr>
            <a:spLocks noGrp="1"/>
          </p:cNvSpPr>
          <p:nvPr>
            <p:ph type="sldNum" sz="quarter" idx="12"/>
          </p:nvPr>
        </p:nvSpPr>
        <p:spPr/>
        <p:txBody>
          <a:bodyPr/>
          <a:lstStyle/>
          <a:p>
            <a:fld id="{483134EA-AF8E-4025-9293-54B9F96F6B5B}" type="slidenum">
              <a:rPr lang="en-150" smtClean="0"/>
              <a:t>‹#›</a:t>
            </a:fld>
            <a:endParaRPr lang="en-150"/>
          </a:p>
        </p:txBody>
      </p:sp>
    </p:spTree>
    <p:extLst>
      <p:ext uri="{BB962C8B-B14F-4D97-AF65-F5344CB8AC3E}">
        <p14:creationId xmlns:p14="http://schemas.microsoft.com/office/powerpoint/2010/main" val="3467824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AF591-2DB3-D2B4-74E9-93A49FEC21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150"/>
          </a:p>
        </p:txBody>
      </p:sp>
      <p:sp>
        <p:nvSpPr>
          <p:cNvPr id="3" name="Text Placeholder 2">
            <a:extLst>
              <a:ext uri="{FF2B5EF4-FFF2-40B4-BE49-F238E27FC236}">
                <a16:creationId xmlns:a16="http://schemas.microsoft.com/office/drawing/2014/main" id="{7803DEA2-F949-7439-FFBA-CA605FA2B1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85A8F8-5B7A-A70A-E724-C4129A65EF51}"/>
              </a:ext>
            </a:extLst>
          </p:cNvPr>
          <p:cNvSpPr>
            <a:spLocks noGrp="1"/>
          </p:cNvSpPr>
          <p:nvPr>
            <p:ph type="dt" sz="half" idx="10"/>
          </p:nvPr>
        </p:nvSpPr>
        <p:spPr/>
        <p:txBody>
          <a:bodyPr/>
          <a:lstStyle/>
          <a:p>
            <a:fld id="{28A79F54-38CD-430F-B2A3-583392FA0233}" type="datetimeFigureOut">
              <a:rPr lang="en-150" smtClean="0"/>
              <a:t>26/10/2026</a:t>
            </a:fld>
            <a:endParaRPr lang="en-150"/>
          </a:p>
        </p:txBody>
      </p:sp>
      <p:sp>
        <p:nvSpPr>
          <p:cNvPr id="5" name="Footer Placeholder 4">
            <a:extLst>
              <a:ext uri="{FF2B5EF4-FFF2-40B4-BE49-F238E27FC236}">
                <a16:creationId xmlns:a16="http://schemas.microsoft.com/office/drawing/2014/main" id="{C407D41B-49E7-2179-F1AC-3183812561A4}"/>
              </a:ext>
            </a:extLst>
          </p:cNvPr>
          <p:cNvSpPr>
            <a:spLocks noGrp="1"/>
          </p:cNvSpPr>
          <p:nvPr>
            <p:ph type="ftr" sz="quarter" idx="11"/>
          </p:nvPr>
        </p:nvSpPr>
        <p:spPr/>
        <p:txBody>
          <a:bodyPr/>
          <a:lstStyle/>
          <a:p>
            <a:endParaRPr lang="en-150"/>
          </a:p>
        </p:txBody>
      </p:sp>
      <p:sp>
        <p:nvSpPr>
          <p:cNvPr id="6" name="Slide Number Placeholder 5">
            <a:extLst>
              <a:ext uri="{FF2B5EF4-FFF2-40B4-BE49-F238E27FC236}">
                <a16:creationId xmlns:a16="http://schemas.microsoft.com/office/drawing/2014/main" id="{6086962A-3C8A-0246-3FE8-B57DE3E37815}"/>
              </a:ext>
            </a:extLst>
          </p:cNvPr>
          <p:cNvSpPr>
            <a:spLocks noGrp="1"/>
          </p:cNvSpPr>
          <p:nvPr>
            <p:ph type="sldNum" sz="quarter" idx="12"/>
          </p:nvPr>
        </p:nvSpPr>
        <p:spPr/>
        <p:txBody>
          <a:bodyPr/>
          <a:lstStyle/>
          <a:p>
            <a:fld id="{483134EA-AF8E-4025-9293-54B9F96F6B5B}" type="slidenum">
              <a:rPr lang="en-150" smtClean="0"/>
              <a:t>‹#›</a:t>
            </a:fld>
            <a:endParaRPr lang="en-150"/>
          </a:p>
        </p:txBody>
      </p:sp>
    </p:spTree>
    <p:extLst>
      <p:ext uri="{BB962C8B-B14F-4D97-AF65-F5344CB8AC3E}">
        <p14:creationId xmlns:p14="http://schemas.microsoft.com/office/powerpoint/2010/main" val="3927260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7C092-70C4-55E7-9C0C-49CDC4466479}"/>
              </a:ext>
            </a:extLst>
          </p:cNvPr>
          <p:cNvSpPr>
            <a:spLocks noGrp="1"/>
          </p:cNvSpPr>
          <p:nvPr>
            <p:ph type="title"/>
          </p:nvPr>
        </p:nvSpPr>
        <p:spPr/>
        <p:txBody>
          <a:bodyPr/>
          <a:lstStyle/>
          <a:p>
            <a:r>
              <a:rPr lang="en-US"/>
              <a:t>Click to edit Master title style</a:t>
            </a:r>
            <a:endParaRPr lang="en-150"/>
          </a:p>
        </p:txBody>
      </p:sp>
      <p:sp>
        <p:nvSpPr>
          <p:cNvPr id="3" name="Content Placeholder 2">
            <a:extLst>
              <a:ext uri="{FF2B5EF4-FFF2-40B4-BE49-F238E27FC236}">
                <a16:creationId xmlns:a16="http://schemas.microsoft.com/office/drawing/2014/main" id="{B6BB800B-961D-2BD0-4041-CA3A599B4B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4" name="Content Placeholder 3">
            <a:extLst>
              <a:ext uri="{FF2B5EF4-FFF2-40B4-BE49-F238E27FC236}">
                <a16:creationId xmlns:a16="http://schemas.microsoft.com/office/drawing/2014/main" id="{4E628F9F-9463-3C20-7D0D-A5318AB679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5" name="Date Placeholder 4">
            <a:extLst>
              <a:ext uri="{FF2B5EF4-FFF2-40B4-BE49-F238E27FC236}">
                <a16:creationId xmlns:a16="http://schemas.microsoft.com/office/drawing/2014/main" id="{97CB8A01-539C-F9AA-745D-EF521017CC07}"/>
              </a:ext>
            </a:extLst>
          </p:cNvPr>
          <p:cNvSpPr>
            <a:spLocks noGrp="1"/>
          </p:cNvSpPr>
          <p:nvPr>
            <p:ph type="dt" sz="half" idx="10"/>
          </p:nvPr>
        </p:nvSpPr>
        <p:spPr/>
        <p:txBody>
          <a:bodyPr/>
          <a:lstStyle/>
          <a:p>
            <a:fld id="{28A79F54-38CD-430F-B2A3-583392FA0233}" type="datetimeFigureOut">
              <a:rPr lang="en-150" smtClean="0"/>
              <a:t>26/10/2026</a:t>
            </a:fld>
            <a:endParaRPr lang="en-150"/>
          </a:p>
        </p:txBody>
      </p:sp>
      <p:sp>
        <p:nvSpPr>
          <p:cNvPr id="6" name="Footer Placeholder 5">
            <a:extLst>
              <a:ext uri="{FF2B5EF4-FFF2-40B4-BE49-F238E27FC236}">
                <a16:creationId xmlns:a16="http://schemas.microsoft.com/office/drawing/2014/main" id="{A2148F65-5B8A-1CCD-365F-EDDF830FA0E1}"/>
              </a:ext>
            </a:extLst>
          </p:cNvPr>
          <p:cNvSpPr>
            <a:spLocks noGrp="1"/>
          </p:cNvSpPr>
          <p:nvPr>
            <p:ph type="ftr" sz="quarter" idx="11"/>
          </p:nvPr>
        </p:nvSpPr>
        <p:spPr/>
        <p:txBody>
          <a:bodyPr/>
          <a:lstStyle/>
          <a:p>
            <a:endParaRPr lang="en-150"/>
          </a:p>
        </p:txBody>
      </p:sp>
      <p:sp>
        <p:nvSpPr>
          <p:cNvPr id="7" name="Slide Number Placeholder 6">
            <a:extLst>
              <a:ext uri="{FF2B5EF4-FFF2-40B4-BE49-F238E27FC236}">
                <a16:creationId xmlns:a16="http://schemas.microsoft.com/office/drawing/2014/main" id="{618935FF-934A-30B7-3D15-A05208D85DE5}"/>
              </a:ext>
            </a:extLst>
          </p:cNvPr>
          <p:cNvSpPr>
            <a:spLocks noGrp="1"/>
          </p:cNvSpPr>
          <p:nvPr>
            <p:ph type="sldNum" sz="quarter" idx="12"/>
          </p:nvPr>
        </p:nvSpPr>
        <p:spPr/>
        <p:txBody>
          <a:bodyPr/>
          <a:lstStyle/>
          <a:p>
            <a:fld id="{483134EA-AF8E-4025-9293-54B9F96F6B5B}" type="slidenum">
              <a:rPr lang="en-150" smtClean="0"/>
              <a:t>‹#›</a:t>
            </a:fld>
            <a:endParaRPr lang="en-150"/>
          </a:p>
        </p:txBody>
      </p:sp>
    </p:spTree>
    <p:extLst>
      <p:ext uri="{BB962C8B-B14F-4D97-AF65-F5344CB8AC3E}">
        <p14:creationId xmlns:p14="http://schemas.microsoft.com/office/powerpoint/2010/main" val="4122032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45C49-99BC-A3B5-5C59-C2F6AB54C1F3}"/>
              </a:ext>
            </a:extLst>
          </p:cNvPr>
          <p:cNvSpPr>
            <a:spLocks noGrp="1"/>
          </p:cNvSpPr>
          <p:nvPr>
            <p:ph type="title"/>
          </p:nvPr>
        </p:nvSpPr>
        <p:spPr>
          <a:xfrm>
            <a:off x="839788" y="365125"/>
            <a:ext cx="10515600" cy="1325563"/>
          </a:xfrm>
        </p:spPr>
        <p:txBody>
          <a:bodyPr/>
          <a:lstStyle/>
          <a:p>
            <a:r>
              <a:rPr lang="en-US"/>
              <a:t>Click to edit Master title style</a:t>
            </a:r>
            <a:endParaRPr lang="en-150"/>
          </a:p>
        </p:txBody>
      </p:sp>
      <p:sp>
        <p:nvSpPr>
          <p:cNvPr id="3" name="Text Placeholder 2">
            <a:extLst>
              <a:ext uri="{FF2B5EF4-FFF2-40B4-BE49-F238E27FC236}">
                <a16:creationId xmlns:a16="http://schemas.microsoft.com/office/drawing/2014/main" id="{B95B9D02-4762-C2F4-C532-E4B3E0430C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04486A-78B8-8E72-6683-39BEF0DC76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5" name="Text Placeholder 4">
            <a:extLst>
              <a:ext uri="{FF2B5EF4-FFF2-40B4-BE49-F238E27FC236}">
                <a16:creationId xmlns:a16="http://schemas.microsoft.com/office/drawing/2014/main" id="{C589AAC7-4CC3-8CDD-F042-DB512853A0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93450F-4B1D-30CF-686B-3DA9297421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7" name="Date Placeholder 6">
            <a:extLst>
              <a:ext uri="{FF2B5EF4-FFF2-40B4-BE49-F238E27FC236}">
                <a16:creationId xmlns:a16="http://schemas.microsoft.com/office/drawing/2014/main" id="{53ECA32B-2A50-E83D-3B52-4CCBE8247F1D}"/>
              </a:ext>
            </a:extLst>
          </p:cNvPr>
          <p:cNvSpPr>
            <a:spLocks noGrp="1"/>
          </p:cNvSpPr>
          <p:nvPr>
            <p:ph type="dt" sz="half" idx="10"/>
          </p:nvPr>
        </p:nvSpPr>
        <p:spPr/>
        <p:txBody>
          <a:bodyPr/>
          <a:lstStyle/>
          <a:p>
            <a:fld id="{28A79F54-38CD-430F-B2A3-583392FA0233}" type="datetimeFigureOut">
              <a:rPr lang="en-150" smtClean="0"/>
              <a:t>26/10/2026</a:t>
            </a:fld>
            <a:endParaRPr lang="en-150"/>
          </a:p>
        </p:txBody>
      </p:sp>
      <p:sp>
        <p:nvSpPr>
          <p:cNvPr id="8" name="Footer Placeholder 7">
            <a:extLst>
              <a:ext uri="{FF2B5EF4-FFF2-40B4-BE49-F238E27FC236}">
                <a16:creationId xmlns:a16="http://schemas.microsoft.com/office/drawing/2014/main" id="{E857B428-26AE-D61A-299E-DDA2E71DFCF2}"/>
              </a:ext>
            </a:extLst>
          </p:cNvPr>
          <p:cNvSpPr>
            <a:spLocks noGrp="1"/>
          </p:cNvSpPr>
          <p:nvPr>
            <p:ph type="ftr" sz="quarter" idx="11"/>
          </p:nvPr>
        </p:nvSpPr>
        <p:spPr/>
        <p:txBody>
          <a:bodyPr/>
          <a:lstStyle/>
          <a:p>
            <a:endParaRPr lang="en-150"/>
          </a:p>
        </p:txBody>
      </p:sp>
      <p:sp>
        <p:nvSpPr>
          <p:cNvPr id="9" name="Slide Number Placeholder 8">
            <a:extLst>
              <a:ext uri="{FF2B5EF4-FFF2-40B4-BE49-F238E27FC236}">
                <a16:creationId xmlns:a16="http://schemas.microsoft.com/office/drawing/2014/main" id="{14833C2E-E6B6-90F1-E002-1D36A37071F6}"/>
              </a:ext>
            </a:extLst>
          </p:cNvPr>
          <p:cNvSpPr>
            <a:spLocks noGrp="1"/>
          </p:cNvSpPr>
          <p:nvPr>
            <p:ph type="sldNum" sz="quarter" idx="12"/>
          </p:nvPr>
        </p:nvSpPr>
        <p:spPr/>
        <p:txBody>
          <a:bodyPr/>
          <a:lstStyle/>
          <a:p>
            <a:fld id="{483134EA-AF8E-4025-9293-54B9F96F6B5B}" type="slidenum">
              <a:rPr lang="en-150" smtClean="0"/>
              <a:t>‹#›</a:t>
            </a:fld>
            <a:endParaRPr lang="en-150"/>
          </a:p>
        </p:txBody>
      </p:sp>
    </p:spTree>
    <p:extLst>
      <p:ext uri="{BB962C8B-B14F-4D97-AF65-F5344CB8AC3E}">
        <p14:creationId xmlns:p14="http://schemas.microsoft.com/office/powerpoint/2010/main" val="1536324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C6334-4CFC-9D15-C4E9-76B93DD0383C}"/>
              </a:ext>
            </a:extLst>
          </p:cNvPr>
          <p:cNvSpPr>
            <a:spLocks noGrp="1"/>
          </p:cNvSpPr>
          <p:nvPr>
            <p:ph type="title"/>
          </p:nvPr>
        </p:nvSpPr>
        <p:spPr/>
        <p:txBody>
          <a:bodyPr/>
          <a:lstStyle/>
          <a:p>
            <a:r>
              <a:rPr lang="en-US"/>
              <a:t>Click to edit Master title style</a:t>
            </a:r>
            <a:endParaRPr lang="en-150"/>
          </a:p>
        </p:txBody>
      </p:sp>
      <p:sp>
        <p:nvSpPr>
          <p:cNvPr id="3" name="Date Placeholder 2">
            <a:extLst>
              <a:ext uri="{FF2B5EF4-FFF2-40B4-BE49-F238E27FC236}">
                <a16:creationId xmlns:a16="http://schemas.microsoft.com/office/drawing/2014/main" id="{4855298E-339E-FEC4-E435-14F019FA9962}"/>
              </a:ext>
            </a:extLst>
          </p:cNvPr>
          <p:cNvSpPr>
            <a:spLocks noGrp="1"/>
          </p:cNvSpPr>
          <p:nvPr>
            <p:ph type="dt" sz="half" idx="10"/>
          </p:nvPr>
        </p:nvSpPr>
        <p:spPr/>
        <p:txBody>
          <a:bodyPr/>
          <a:lstStyle/>
          <a:p>
            <a:fld id="{28A79F54-38CD-430F-B2A3-583392FA0233}" type="datetimeFigureOut">
              <a:rPr lang="en-150" smtClean="0"/>
              <a:t>26/10/2026</a:t>
            </a:fld>
            <a:endParaRPr lang="en-150"/>
          </a:p>
        </p:txBody>
      </p:sp>
      <p:sp>
        <p:nvSpPr>
          <p:cNvPr id="4" name="Footer Placeholder 3">
            <a:extLst>
              <a:ext uri="{FF2B5EF4-FFF2-40B4-BE49-F238E27FC236}">
                <a16:creationId xmlns:a16="http://schemas.microsoft.com/office/drawing/2014/main" id="{93466E65-6EF6-B794-2D7A-1728937BE8E5}"/>
              </a:ext>
            </a:extLst>
          </p:cNvPr>
          <p:cNvSpPr>
            <a:spLocks noGrp="1"/>
          </p:cNvSpPr>
          <p:nvPr>
            <p:ph type="ftr" sz="quarter" idx="11"/>
          </p:nvPr>
        </p:nvSpPr>
        <p:spPr/>
        <p:txBody>
          <a:bodyPr/>
          <a:lstStyle/>
          <a:p>
            <a:endParaRPr lang="en-150"/>
          </a:p>
        </p:txBody>
      </p:sp>
      <p:sp>
        <p:nvSpPr>
          <p:cNvPr id="5" name="Slide Number Placeholder 4">
            <a:extLst>
              <a:ext uri="{FF2B5EF4-FFF2-40B4-BE49-F238E27FC236}">
                <a16:creationId xmlns:a16="http://schemas.microsoft.com/office/drawing/2014/main" id="{5174F70B-4AE0-65E4-C83D-2F77319EF17D}"/>
              </a:ext>
            </a:extLst>
          </p:cNvPr>
          <p:cNvSpPr>
            <a:spLocks noGrp="1"/>
          </p:cNvSpPr>
          <p:nvPr>
            <p:ph type="sldNum" sz="quarter" idx="12"/>
          </p:nvPr>
        </p:nvSpPr>
        <p:spPr/>
        <p:txBody>
          <a:bodyPr/>
          <a:lstStyle/>
          <a:p>
            <a:fld id="{483134EA-AF8E-4025-9293-54B9F96F6B5B}" type="slidenum">
              <a:rPr lang="en-150" smtClean="0"/>
              <a:t>‹#›</a:t>
            </a:fld>
            <a:endParaRPr lang="en-150"/>
          </a:p>
        </p:txBody>
      </p:sp>
    </p:spTree>
    <p:extLst>
      <p:ext uri="{BB962C8B-B14F-4D97-AF65-F5344CB8AC3E}">
        <p14:creationId xmlns:p14="http://schemas.microsoft.com/office/powerpoint/2010/main" val="952314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89944D-130F-405E-9B9B-1E6EC88E5F1B}"/>
              </a:ext>
            </a:extLst>
          </p:cNvPr>
          <p:cNvSpPr>
            <a:spLocks noGrp="1"/>
          </p:cNvSpPr>
          <p:nvPr>
            <p:ph type="dt" sz="half" idx="10"/>
          </p:nvPr>
        </p:nvSpPr>
        <p:spPr/>
        <p:txBody>
          <a:bodyPr/>
          <a:lstStyle/>
          <a:p>
            <a:fld id="{28A79F54-38CD-430F-B2A3-583392FA0233}" type="datetimeFigureOut">
              <a:rPr lang="en-150" smtClean="0"/>
              <a:t>26/10/2026</a:t>
            </a:fld>
            <a:endParaRPr lang="en-150"/>
          </a:p>
        </p:txBody>
      </p:sp>
      <p:sp>
        <p:nvSpPr>
          <p:cNvPr id="3" name="Footer Placeholder 2">
            <a:extLst>
              <a:ext uri="{FF2B5EF4-FFF2-40B4-BE49-F238E27FC236}">
                <a16:creationId xmlns:a16="http://schemas.microsoft.com/office/drawing/2014/main" id="{5224B959-79A4-AA90-110F-8BE2A9DBD681}"/>
              </a:ext>
            </a:extLst>
          </p:cNvPr>
          <p:cNvSpPr>
            <a:spLocks noGrp="1"/>
          </p:cNvSpPr>
          <p:nvPr>
            <p:ph type="ftr" sz="quarter" idx="11"/>
          </p:nvPr>
        </p:nvSpPr>
        <p:spPr/>
        <p:txBody>
          <a:bodyPr/>
          <a:lstStyle/>
          <a:p>
            <a:endParaRPr lang="en-150"/>
          </a:p>
        </p:txBody>
      </p:sp>
      <p:sp>
        <p:nvSpPr>
          <p:cNvPr id="4" name="Slide Number Placeholder 3">
            <a:extLst>
              <a:ext uri="{FF2B5EF4-FFF2-40B4-BE49-F238E27FC236}">
                <a16:creationId xmlns:a16="http://schemas.microsoft.com/office/drawing/2014/main" id="{7D5735B8-71C1-C480-085A-80A235D5E83B}"/>
              </a:ext>
            </a:extLst>
          </p:cNvPr>
          <p:cNvSpPr>
            <a:spLocks noGrp="1"/>
          </p:cNvSpPr>
          <p:nvPr>
            <p:ph type="sldNum" sz="quarter" idx="12"/>
          </p:nvPr>
        </p:nvSpPr>
        <p:spPr/>
        <p:txBody>
          <a:bodyPr/>
          <a:lstStyle/>
          <a:p>
            <a:fld id="{483134EA-AF8E-4025-9293-54B9F96F6B5B}" type="slidenum">
              <a:rPr lang="en-150" smtClean="0"/>
              <a:t>‹#›</a:t>
            </a:fld>
            <a:endParaRPr lang="en-150"/>
          </a:p>
        </p:txBody>
      </p:sp>
    </p:spTree>
    <p:extLst>
      <p:ext uri="{BB962C8B-B14F-4D97-AF65-F5344CB8AC3E}">
        <p14:creationId xmlns:p14="http://schemas.microsoft.com/office/powerpoint/2010/main" val="4036830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8F230-BA79-015E-D108-7B45496A0F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150"/>
          </a:p>
        </p:txBody>
      </p:sp>
      <p:sp>
        <p:nvSpPr>
          <p:cNvPr id="3" name="Content Placeholder 2">
            <a:extLst>
              <a:ext uri="{FF2B5EF4-FFF2-40B4-BE49-F238E27FC236}">
                <a16:creationId xmlns:a16="http://schemas.microsoft.com/office/drawing/2014/main" id="{352FDCDC-1E1B-5294-46AE-EF7FE80965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4" name="Text Placeholder 3">
            <a:extLst>
              <a:ext uri="{FF2B5EF4-FFF2-40B4-BE49-F238E27FC236}">
                <a16:creationId xmlns:a16="http://schemas.microsoft.com/office/drawing/2014/main" id="{B0086479-E0E1-CC88-7E82-379F29DFB5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192735-25D5-5D04-C0AF-51D6DE3DA41A}"/>
              </a:ext>
            </a:extLst>
          </p:cNvPr>
          <p:cNvSpPr>
            <a:spLocks noGrp="1"/>
          </p:cNvSpPr>
          <p:nvPr>
            <p:ph type="dt" sz="half" idx="10"/>
          </p:nvPr>
        </p:nvSpPr>
        <p:spPr/>
        <p:txBody>
          <a:bodyPr/>
          <a:lstStyle/>
          <a:p>
            <a:fld id="{28A79F54-38CD-430F-B2A3-583392FA0233}" type="datetimeFigureOut">
              <a:rPr lang="en-150" smtClean="0"/>
              <a:t>26/10/2026</a:t>
            </a:fld>
            <a:endParaRPr lang="en-150"/>
          </a:p>
        </p:txBody>
      </p:sp>
      <p:sp>
        <p:nvSpPr>
          <p:cNvPr id="6" name="Footer Placeholder 5">
            <a:extLst>
              <a:ext uri="{FF2B5EF4-FFF2-40B4-BE49-F238E27FC236}">
                <a16:creationId xmlns:a16="http://schemas.microsoft.com/office/drawing/2014/main" id="{6C6F51D0-AE81-F36C-6718-FBF5A25B1850}"/>
              </a:ext>
            </a:extLst>
          </p:cNvPr>
          <p:cNvSpPr>
            <a:spLocks noGrp="1"/>
          </p:cNvSpPr>
          <p:nvPr>
            <p:ph type="ftr" sz="quarter" idx="11"/>
          </p:nvPr>
        </p:nvSpPr>
        <p:spPr/>
        <p:txBody>
          <a:bodyPr/>
          <a:lstStyle/>
          <a:p>
            <a:endParaRPr lang="en-150"/>
          </a:p>
        </p:txBody>
      </p:sp>
      <p:sp>
        <p:nvSpPr>
          <p:cNvPr id="7" name="Slide Number Placeholder 6">
            <a:extLst>
              <a:ext uri="{FF2B5EF4-FFF2-40B4-BE49-F238E27FC236}">
                <a16:creationId xmlns:a16="http://schemas.microsoft.com/office/drawing/2014/main" id="{13EBEFA3-6D91-3F7A-AFCC-39F3447B34B0}"/>
              </a:ext>
            </a:extLst>
          </p:cNvPr>
          <p:cNvSpPr>
            <a:spLocks noGrp="1"/>
          </p:cNvSpPr>
          <p:nvPr>
            <p:ph type="sldNum" sz="quarter" idx="12"/>
          </p:nvPr>
        </p:nvSpPr>
        <p:spPr/>
        <p:txBody>
          <a:bodyPr/>
          <a:lstStyle/>
          <a:p>
            <a:fld id="{483134EA-AF8E-4025-9293-54B9F96F6B5B}" type="slidenum">
              <a:rPr lang="en-150" smtClean="0"/>
              <a:t>‹#›</a:t>
            </a:fld>
            <a:endParaRPr lang="en-150"/>
          </a:p>
        </p:txBody>
      </p:sp>
    </p:spTree>
    <p:extLst>
      <p:ext uri="{BB962C8B-B14F-4D97-AF65-F5344CB8AC3E}">
        <p14:creationId xmlns:p14="http://schemas.microsoft.com/office/powerpoint/2010/main" val="1113620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E74B7-D251-495B-E411-F07C7807D6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150"/>
          </a:p>
        </p:txBody>
      </p:sp>
      <p:sp>
        <p:nvSpPr>
          <p:cNvPr id="3" name="Picture Placeholder 2">
            <a:extLst>
              <a:ext uri="{FF2B5EF4-FFF2-40B4-BE49-F238E27FC236}">
                <a16:creationId xmlns:a16="http://schemas.microsoft.com/office/drawing/2014/main" id="{F1B88DE9-B81A-9408-CA68-65588F6CC0C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150"/>
          </a:p>
        </p:txBody>
      </p:sp>
      <p:sp>
        <p:nvSpPr>
          <p:cNvPr id="4" name="Text Placeholder 3">
            <a:extLst>
              <a:ext uri="{FF2B5EF4-FFF2-40B4-BE49-F238E27FC236}">
                <a16:creationId xmlns:a16="http://schemas.microsoft.com/office/drawing/2014/main" id="{CE70266E-F853-CAC7-093D-45423AFF33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FBAB7F-1CAB-F30B-84AC-AD67446A65C7}"/>
              </a:ext>
            </a:extLst>
          </p:cNvPr>
          <p:cNvSpPr>
            <a:spLocks noGrp="1"/>
          </p:cNvSpPr>
          <p:nvPr>
            <p:ph type="dt" sz="half" idx="10"/>
          </p:nvPr>
        </p:nvSpPr>
        <p:spPr/>
        <p:txBody>
          <a:bodyPr/>
          <a:lstStyle/>
          <a:p>
            <a:fld id="{28A79F54-38CD-430F-B2A3-583392FA0233}" type="datetimeFigureOut">
              <a:rPr lang="en-150" smtClean="0"/>
              <a:t>26/10/2026</a:t>
            </a:fld>
            <a:endParaRPr lang="en-150"/>
          </a:p>
        </p:txBody>
      </p:sp>
      <p:sp>
        <p:nvSpPr>
          <p:cNvPr id="6" name="Footer Placeholder 5">
            <a:extLst>
              <a:ext uri="{FF2B5EF4-FFF2-40B4-BE49-F238E27FC236}">
                <a16:creationId xmlns:a16="http://schemas.microsoft.com/office/drawing/2014/main" id="{B7A2CB9A-CC7A-5594-B15A-D0BACF357A47}"/>
              </a:ext>
            </a:extLst>
          </p:cNvPr>
          <p:cNvSpPr>
            <a:spLocks noGrp="1"/>
          </p:cNvSpPr>
          <p:nvPr>
            <p:ph type="ftr" sz="quarter" idx="11"/>
          </p:nvPr>
        </p:nvSpPr>
        <p:spPr/>
        <p:txBody>
          <a:bodyPr/>
          <a:lstStyle/>
          <a:p>
            <a:endParaRPr lang="en-150"/>
          </a:p>
        </p:txBody>
      </p:sp>
      <p:sp>
        <p:nvSpPr>
          <p:cNvPr id="7" name="Slide Number Placeholder 6">
            <a:extLst>
              <a:ext uri="{FF2B5EF4-FFF2-40B4-BE49-F238E27FC236}">
                <a16:creationId xmlns:a16="http://schemas.microsoft.com/office/drawing/2014/main" id="{6A842DB7-F98F-EACB-5029-E3147C1203C3}"/>
              </a:ext>
            </a:extLst>
          </p:cNvPr>
          <p:cNvSpPr>
            <a:spLocks noGrp="1"/>
          </p:cNvSpPr>
          <p:nvPr>
            <p:ph type="sldNum" sz="quarter" idx="12"/>
          </p:nvPr>
        </p:nvSpPr>
        <p:spPr/>
        <p:txBody>
          <a:bodyPr/>
          <a:lstStyle/>
          <a:p>
            <a:fld id="{483134EA-AF8E-4025-9293-54B9F96F6B5B}" type="slidenum">
              <a:rPr lang="en-150" smtClean="0"/>
              <a:t>‹#›</a:t>
            </a:fld>
            <a:endParaRPr lang="en-150"/>
          </a:p>
        </p:txBody>
      </p:sp>
    </p:spTree>
    <p:extLst>
      <p:ext uri="{BB962C8B-B14F-4D97-AF65-F5344CB8AC3E}">
        <p14:creationId xmlns:p14="http://schemas.microsoft.com/office/powerpoint/2010/main" val="919283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7E981-FE14-55CA-2918-91E7ED6BA029}"/>
              </a:ext>
            </a:extLst>
          </p:cNvPr>
          <p:cNvSpPr>
            <a:spLocks noGrp="1"/>
          </p:cNvSpPr>
          <p:nvPr>
            <p:ph type="title"/>
          </p:nvPr>
        </p:nvSpPr>
        <p:spPr/>
        <p:txBody>
          <a:bodyPr/>
          <a:lstStyle/>
          <a:p>
            <a:r>
              <a:rPr lang="en-US"/>
              <a:t>Click to edit Master title style</a:t>
            </a:r>
            <a:endParaRPr lang="en-150"/>
          </a:p>
        </p:txBody>
      </p:sp>
      <p:sp>
        <p:nvSpPr>
          <p:cNvPr id="3" name="Vertical Text Placeholder 2">
            <a:extLst>
              <a:ext uri="{FF2B5EF4-FFF2-40B4-BE49-F238E27FC236}">
                <a16:creationId xmlns:a16="http://schemas.microsoft.com/office/drawing/2014/main" id="{824AAAC7-87D3-F719-7C31-FF0B933F28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4" name="Date Placeholder 3">
            <a:extLst>
              <a:ext uri="{FF2B5EF4-FFF2-40B4-BE49-F238E27FC236}">
                <a16:creationId xmlns:a16="http://schemas.microsoft.com/office/drawing/2014/main" id="{B4AEFB57-6A7C-C404-DB7D-E99174A8347D}"/>
              </a:ext>
            </a:extLst>
          </p:cNvPr>
          <p:cNvSpPr>
            <a:spLocks noGrp="1"/>
          </p:cNvSpPr>
          <p:nvPr>
            <p:ph type="dt" sz="half" idx="10"/>
          </p:nvPr>
        </p:nvSpPr>
        <p:spPr/>
        <p:txBody>
          <a:bodyPr/>
          <a:lstStyle/>
          <a:p>
            <a:fld id="{28A79F54-38CD-430F-B2A3-583392FA0233}" type="datetimeFigureOut">
              <a:rPr lang="en-150" smtClean="0"/>
              <a:t>26/10/2026</a:t>
            </a:fld>
            <a:endParaRPr lang="en-150"/>
          </a:p>
        </p:txBody>
      </p:sp>
      <p:sp>
        <p:nvSpPr>
          <p:cNvPr id="5" name="Footer Placeholder 4">
            <a:extLst>
              <a:ext uri="{FF2B5EF4-FFF2-40B4-BE49-F238E27FC236}">
                <a16:creationId xmlns:a16="http://schemas.microsoft.com/office/drawing/2014/main" id="{219AB49E-3C32-5573-74DE-FDAF344F0D8C}"/>
              </a:ext>
            </a:extLst>
          </p:cNvPr>
          <p:cNvSpPr>
            <a:spLocks noGrp="1"/>
          </p:cNvSpPr>
          <p:nvPr>
            <p:ph type="ftr" sz="quarter" idx="11"/>
          </p:nvPr>
        </p:nvSpPr>
        <p:spPr/>
        <p:txBody>
          <a:bodyPr/>
          <a:lstStyle/>
          <a:p>
            <a:endParaRPr lang="en-150"/>
          </a:p>
        </p:txBody>
      </p:sp>
      <p:sp>
        <p:nvSpPr>
          <p:cNvPr id="6" name="Slide Number Placeholder 5">
            <a:extLst>
              <a:ext uri="{FF2B5EF4-FFF2-40B4-BE49-F238E27FC236}">
                <a16:creationId xmlns:a16="http://schemas.microsoft.com/office/drawing/2014/main" id="{29BD61E7-7CA3-E79A-0D55-1E574B860682}"/>
              </a:ext>
            </a:extLst>
          </p:cNvPr>
          <p:cNvSpPr>
            <a:spLocks noGrp="1"/>
          </p:cNvSpPr>
          <p:nvPr>
            <p:ph type="sldNum" sz="quarter" idx="12"/>
          </p:nvPr>
        </p:nvSpPr>
        <p:spPr/>
        <p:txBody>
          <a:bodyPr/>
          <a:lstStyle/>
          <a:p>
            <a:fld id="{483134EA-AF8E-4025-9293-54B9F96F6B5B}" type="slidenum">
              <a:rPr lang="en-150" smtClean="0"/>
              <a:t>‹#›</a:t>
            </a:fld>
            <a:endParaRPr lang="en-150"/>
          </a:p>
        </p:txBody>
      </p:sp>
    </p:spTree>
    <p:extLst>
      <p:ext uri="{BB962C8B-B14F-4D97-AF65-F5344CB8AC3E}">
        <p14:creationId xmlns:p14="http://schemas.microsoft.com/office/powerpoint/2010/main" val="2182112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4A3C25-0309-BAD1-E7A5-B31343968CD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150"/>
          </a:p>
        </p:txBody>
      </p:sp>
      <p:sp>
        <p:nvSpPr>
          <p:cNvPr id="3" name="Vertical Text Placeholder 2">
            <a:extLst>
              <a:ext uri="{FF2B5EF4-FFF2-40B4-BE49-F238E27FC236}">
                <a16:creationId xmlns:a16="http://schemas.microsoft.com/office/drawing/2014/main" id="{5F227ED7-DBE4-0244-8490-3CD3348D43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4" name="Date Placeholder 3">
            <a:extLst>
              <a:ext uri="{FF2B5EF4-FFF2-40B4-BE49-F238E27FC236}">
                <a16:creationId xmlns:a16="http://schemas.microsoft.com/office/drawing/2014/main" id="{6E1E0F44-5903-82B9-15C3-EF8C3B7C11EB}"/>
              </a:ext>
            </a:extLst>
          </p:cNvPr>
          <p:cNvSpPr>
            <a:spLocks noGrp="1"/>
          </p:cNvSpPr>
          <p:nvPr>
            <p:ph type="dt" sz="half" idx="10"/>
          </p:nvPr>
        </p:nvSpPr>
        <p:spPr/>
        <p:txBody>
          <a:bodyPr/>
          <a:lstStyle/>
          <a:p>
            <a:fld id="{28A79F54-38CD-430F-B2A3-583392FA0233}" type="datetimeFigureOut">
              <a:rPr lang="en-150" smtClean="0"/>
              <a:t>26/10/2026</a:t>
            </a:fld>
            <a:endParaRPr lang="en-150"/>
          </a:p>
        </p:txBody>
      </p:sp>
      <p:sp>
        <p:nvSpPr>
          <p:cNvPr id="5" name="Footer Placeholder 4">
            <a:extLst>
              <a:ext uri="{FF2B5EF4-FFF2-40B4-BE49-F238E27FC236}">
                <a16:creationId xmlns:a16="http://schemas.microsoft.com/office/drawing/2014/main" id="{B020670C-DA88-A803-6D06-7540E1F59C83}"/>
              </a:ext>
            </a:extLst>
          </p:cNvPr>
          <p:cNvSpPr>
            <a:spLocks noGrp="1"/>
          </p:cNvSpPr>
          <p:nvPr>
            <p:ph type="ftr" sz="quarter" idx="11"/>
          </p:nvPr>
        </p:nvSpPr>
        <p:spPr/>
        <p:txBody>
          <a:bodyPr/>
          <a:lstStyle/>
          <a:p>
            <a:endParaRPr lang="en-150"/>
          </a:p>
        </p:txBody>
      </p:sp>
      <p:sp>
        <p:nvSpPr>
          <p:cNvPr id="6" name="Slide Number Placeholder 5">
            <a:extLst>
              <a:ext uri="{FF2B5EF4-FFF2-40B4-BE49-F238E27FC236}">
                <a16:creationId xmlns:a16="http://schemas.microsoft.com/office/drawing/2014/main" id="{8D8318DC-96FB-B76E-07DB-EDF245B561BC}"/>
              </a:ext>
            </a:extLst>
          </p:cNvPr>
          <p:cNvSpPr>
            <a:spLocks noGrp="1"/>
          </p:cNvSpPr>
          <p:nvPr>
            <p:ph type="sldNum" sz="quarter" idx="12"/>
          </p:nvPr>
        </p:nvSpPr>
        <p:spPr/>
        <p:txBody>
          <a:bodyPr/>
          <a:lstStyle/>
          <a:p>
            <a:fld id="{483134EA-AF8E-4025-9293-54B9F96F6B5B}" type="slidenum">
              <a:rPr lang="en-150" smtClean="0"/>
              <a:t>‹#›</a:t>
            </a:fld>
            <a:endParaRPr lang="en-150"/>
          </a:p>
        </p:txBody>
      </p:sp>
    </p:spTree>
    <p:extLst>
      <p:ext uri="{BB962C8B-B14F-4D97-AF65-F5344CB8AC3E}">
        <p14:creationId xmlns:p14="http://schemas.microsoft.com/office/powerpoint/2010/main" val="3405506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C89E0E-627E-E546-ADCD-D1D033A284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150"/>
          </a:p>
        </p:txBody>
      </p:sp>
      <p:sp>
        <p:nvSpPr>
          <p:cNvPr id="3" name="Text Placeholder 2">
            <a:extLst>
              <a:ext uri="{FF2B5EF4-FFF2-40B4-BE49-F238E27FC236}">
                <a16:creationId xmlns:a16="http://schemas.microsoft.com/office/drawing/2014/main" id="{5B1839DB-AFF2-E2DD-AE55-FC8114A975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4" name="Date Placeholder 3">
            <a:extLst>
              <a:ext uri="{FF2B5EF4-FFF2-40B4-BE49-F238E27FC236}">
                <a16:creationId xmlns:a16="http://schemas.microsoft.com/office/drawing/2014/main" id="{09385A5C-ABE7-C6C9-9087-F522B4A9F5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A79F54-38CD-430F-B2A3-583392FA0233}" type="datetimeFigureOut">
              <a:rPr lang="en-150" smtClean="0"/>
              <a:t>26/10/2026</a:t>
            </a:fld>
            <a:endParaRPr lang="en-150"/>
          </a:p>
        </p:txBody>
      </p:sp>
      <p:sp>
        <p:nvSpPr>
          <p:cNvPr id="5" name="Footer Placeholder 4">
            <a:extLst>
              <a:ext uri="{FF2B5EF4-FFF2-40B4-BE49-F238E27FC236}">
                <a16:creationId xmlns:a16="http://schemas.microsoft.com/office/drawing/2014/main" id="{C72874CB-843C-2D16-8EA9-D0990228F5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150"/>
          </a:p>
        </p:txBody>
      </p:sp>
      <p:sp>
        <p:nvSpPr>
          <p:cNvPr id="6" name="Slide Number Placeholder 5">
            <a:extLst>
              <a:ext uri="{FF2B5EF4-FFF2-40B4-BE49-F238E27FC236}">
                <a16:creationId xmlns:a16="http://schemas.microsoft.com/office/drawing/2014/main" id="{F525350D-3880-2657-1BBE-C8F56B74DE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3134EA-AF8E-4025-9293-54B9F96F6B5B}" type="slidenum">
              <a:rPr lang="en-150" smtClean="0"/>
              <a:t>‹#›</a:t>
            </a:fld>
            <a:endParaRPr lang="en-150"/>
          </a:p>
        </p:txBody>
      </p:sp>
    </p:spTree>
    <p:extLst>
      <p:ext uri="{BB962C8B-B14F-4D97-AF65-F5344CB8AC3E}">
        <p14:creationId xmlns:p14="http://schemas.microsoft.com/office/powerpoint/2010/main" val="310042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15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B3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E4F967-16FF-7127-7CB8-4CA27FE6A80B}"/>
              </a:ext>
            </a:extLst>
          </p:cNvPr>
          <p:cNvSpPr/>
          <p:nvPr/>
        </p:nvSpPr>
        <p:spPr>
          <a:xfrm>
            <a:off x="457200" y="444500"/>
            <a:ext cx="533400" cy="63500"/>
          </a:xfrm>
          <a:prstGeom prst="rect">
            <a:avLst/>
          </a:prstGeom>
          <a:solidFill>
            <a:srgbClr val="00A2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3" name="TextBox 2">
            <a:extLst>
              <a:ext uri="{FF2B5EF4-FFF2-40B4-BE49-F238E27FC236}">
                <a16:creationId xmlns:a16="http://schemas.microsoft.com/office/drawing/2014/main" id="{05AB0A28-BB99-886E-12F1-CB5A47A68134}"/>
              </a:ext>
            </a:extLst>
          </p:cNvPr>
          <p:cNvSpPr txBox="1"/>
          <p:nvPr/>
        </p:nvSpPr>
        <p:spPr>
          <a:xfrm>
            <a:off x="457200" y="660399"/>
            <a:ext cx="11303000" cy="317500"/>
          </a:xfrm>
          <a:prstGeom prst="rect">
            <a:avLst/>
          </a:prstGeom>
          <a:noFill/>
        </p:spPr>
        <p:txBody>
          <a:bodyPr vert="horz" wrap="square" lIns="0" tIns="0" rIns="0" bIns="0" rtlCol="0">
            <a:noAutofit/>
          </a:bodyPr>
          <a:lstStyle/>
          <a:p>
            <a:pPr>
              <a:spcAft>
                <a:spcPts val="1000"/>
              </a:spcAft>
            </a:pPr>
            <a:r>
              <a:rPr lang="en-US" sz="1100" b="1">
                <a:solidFill>
                  <a:srgbClr val="71D4D0"/>
                </a:solidFill>
                <a:latin typeface="Aptos" panose="020B0004020202020204" pitchFamily="34" charset="0"/>
              </a:rPr>
              <a:t>STRUCTURED PRUNING + DISTILLATION | LEVEL 4</a:t>
            </a:r>
            <a:endParaRPr lang="en-150" sz="1100" b="1">
              <a:solidFill>
                <a:srgbClr val="71D4D0"/>
              </a:solidFill>
              <a:latin typeface="Aptos" panose="020B0004020202020204" pitchFamily="34" charset="0"/>
            </a:endParaRPr>
          </a:p>
        </p:txBody>
      </p:sp>
      <p:sp>
        <p:nvSpPr>
          <p:cNvPr id="4" name="TextBox 3">
            <a:extLst>
              <a:ext uri="{FF2B5EF4-FFF2-40B4-BE49-F238E27FC236}">
                <a16:creationId xmlns:a16="http://schemas.microsoft.com/office/drawing/2014/main" id="{768E7187-C539-DC41-7F38-2AF2F09D242C}"/>
              </a:ext>
            </a:extLst>
          </p:cNvPr>
          <p:cNvSpPr txBox="1"/>
          <p:nvPr/>
        </p:nvSpPr>
        <p:spPr>
          <a:xfrm>
            <a:off x="457200" y="1117599"/>
            <a:ext cx="11303000" cy="1016000"/>
          </a:xfrm>
          <a:prstGeom prst="rect">
            <a:avLst/>
          </a:prstGeom>
          <a:noFill/>
        </p:spPr>
        <p:txBody>
          <a:bodyPr vert="horz" wrap="square" lIns="0" tIns="0" rIns="0" bIns="0" rtlCol="0">
            <a:noAutofit/>
          </a:bodyPr>
          <a:lstStyle/>
          <a:p>
            <a:pPr>
              <a:spcAft>
                <a:spcPts val="1000"/>
              </a:spcAft>
            </a:pPr>
            <a:r>
              <a:rPr lang="en-US" sz="3700" b="1">
                <a:solidFill>
                  <a:srgbClr val="FFFFFF"/>
                </a:solidFill>
                <a:latin typeface="Aptos" panose="020B0004020202020204" pitchFamily="34" charset="0"/>
              </a:rPr>
              <a:t>Smaller models. Stronger evidence.</a:t>
            </a:r>
            <a:endParaRPr lang="en-150" sz="3700" b="1">
              <a:solidFill>
                <a:srgbClr val="FFFFFF"/>
              </a:solidFill>
              <a:latin typeface="Aptos" panose="020B0004020202020204" pitchFamily="34" charset="0"/>
            </a:endParaRPr>
          </a:p>
        </p:txBody>
      </p:sp>
      <p:sp>
        <p:nvSpPr>
          <p:cNvPr id="5" name="TextBox 4">
            <a:extLst>
              <a:ext uri="{FF2B5EF4-FFF2-40B4-BE49-F238E27FC236}">
                <a16:creationId xmlns:a16="http://schemas.microsoft.com/office/drawing/2014/main" id="{AECF1C6D-B8D8-12AF-8E64-447F444B8C16}"/>
              </a:ext>
            </a:extLst>
          </p:cNvPr>
          <p:cNvSpPr txBox="1"/>
          <p:nvPr/>
        </p:nvSpPr>
        <p:spPr>
          <a:xfrm>
            <a:off x="609600" y="2412999"/>
            <a:ext cx="10858500" cy="3708400"/>
          </a:xfrm>
          <a:prstGeom prst="rect">
            <a:avLst/>
          </a:prstGeom>
          <a:noFill/>
        </p:spPr>
        <p:txBody>
          <a:bodyPr vert="horz" wrap="square" lIns="0" tIns="0" rIns="0" bIns="0" rtlCol="0">
            <a:noAutofit/>
          </a:bodyPr>
          <a:lstStyle/>
          <a:p>
            <a:pPr>
              <a:spcAft>
                <a:spcPts val="1000"/>
              </a:spcAft>
            </a:pPr>
            <a:r>
              <a:rPr lang="en-US" sz="2400">
                <a:solidFill>
                  <a:srgbClr val="FFFFFF"/>
                </a:solidFill>
                <a:latin typeface="Aptos" panose="020B0004020202020204" pitchFamily="34" charset="0"/>
              </a:rPr>
              <a:t>A Minitron-inspired study under an 8 GiB GPU budget</a:t>
            </a:r>
          </a:p>
          <a:p>
            <a:pPr>
              <a:spcAft>
                <a:spcPts val="1000"/>
              </a:spcAft>
            </a:pPr>
            <a:r>
              <a:rPr lang="en-US" sz="2400">
                <a:solidFill>
                  <a:srgbClr val="FFFFFF"/>
                </a:solidFill>
                <a:latin typeface="Aptos" panose="020B0004020202020204" pitchFamily="34" charset="0"/>
              </a:rPr>
              <a:t>Qwen2.5-3B → physically smaller students</a:t>
            </a:r>
          </a:p>
          <a:p>
            <a:pPr>
              <a:spcAft>
                <a:spcPts val="1000"/>
              </a:spcAft>
            </a:pPr>
            <a:r>
              <a:rPr lang="en-US" sz="2400">
                <a:solidFill>
                  <a:srgbClr val="FFFFFF"/>
                </a:solidFill>
                <a:latin typeface="Aptos" panose="020B0004020202020204" pitchFamily="34" charset="0"/>
              </a:rPr>
              <a:t>18 recovery runs · 3 seeds · CPU and CUDA evidence</a:t>
            </a:r>
            <a:endParaRPr lang="en-150" sz="2400">
              <a:solidFill>
                <a:srgbClr val="FFFFFF"/>
              </a:solidFill>
              <a:latin typeface="Aptos" panose="020B0004020202020204" pitchFamily="34" charset="0"/>
            </a:endParaRPr>
          </a:p>
        </p:txBody>
      </p:sp>
      <p:sp>
        <p:nvSpPr>
          <p:cNvPr id="6" name="TextBox 5">
            <a:extLst>
              <a:ext uri="{FF2B5EF4-FFF2-40B4-BE49-F238E27FC236}">
                <a16:creationId xmlns:a16="http://schemas.microsoft.com/office/drawing/2014/main" id="{ABDB06D3-54BB-B112-FD9E-C7DD55CBA458}"/>
              </a:ext>
            </a:extLst>
          </p:cNvPr>
          <p:cNvSpPr txBox="1"/>
          <p:nvPr/>
        </p:nvSpPr>
        <p:spPr>
          <a:xfrm>
            <a:off x="457200" y="6489700"/>
            <a:ext cx="10414000" cy="203200"/>
          </a:xfrm>
          <a:prstGeom prst="rect">
            <a:avLst/>
          </a:prstGeom>
          <a:noFill/>
        </p:spPr>
        <p:txBody>
          <a:bodyPr vert="horz" wrap="square" lIns="0" tIns="0" rIns="0" bIns="0" rtlCol="0">
            <a:noAutofit/>
          </a:bodyPr>
          <a:lstStyle/>
          <a:p>
            <a:pPr>
              <a:spcAft>
                <a:spcPts val="1000"/>
              </a:spcAft>
            </a:pPr>
            <a:r>
              <a:rPr lang="en-US" sz="800">
                <a:solidFill>
                  <a:srgbClr val="A8C4CC"/>
                </a:solidFill>
                <a:latin typeface="Aptos" panose="020B0004020202020204" pitchFamily="34" charset="0"/>
              </a:rPr>
              <a:t>MINITRON-INSPIRED  /  BUILT WITH QWEN  /  LOCAL MEASUREMENTS, NOT NVIDIA RESULTS</a:t>
            </a:r>
            <a:endParaRPr lang="en-150" sz="800">
              <a:solidFill>
                <a:srgbClr val="A8C4CC"/>
              </a:solidFill>
              <a:latin typeface="Aptos" panose="020B0004020202020204" pitchFamily="34" charset="0"/>
            </a:endParaRPr>
          </a:p>
        </p:txBody>
      </p:sp>
      <p:sp>
        <p:nvSpPr>
          <p:cNvPr id="7" name="TextBox 6">
            <a:extLst>
              <a:ext uri="{FF2B5EF4-FFF2-40B4-BE49-F238E27FC236}">
                <a16:creationId xmlns:a16="http://schemas.microsoft.com/office/drawing/2014/main" id="{659BFDD9-E71B-2F8A-2A67-E8899E0352E7}"/>
              </a:ext>
            </a:extLst>
          </p:cNvPr>
          <p:cNvSpPr txBox="1"/>
          <p:nvPr/>
        </p:nvSpPr>
        <p:spPr>
          <a:xfrm>
            <a:off x="11290300" y="6426199"/>
            <a:ext cx="482600" cy="279400"/>
          </a:xfrm>
          <a:prstGeom prst="rect">
            <a:avLst/>
          </a:prstGeom>
          <a:noFill/>
        </p:spPr>
        <p:txBody>
          <a:bodyPr vert="horz" wrap="square" lIns="0" tIns="0" rIns="0" bIns="0" rtlCol="0">
            <a:noAutofit/>
          </a:bodyPr>
          <a:lstStyle/>
          <a:p>
            <a:pPr>
              <a:spcAft>
                <a:spcPts val="1000"/>
              </a:spcAft>
            </a:pPr>
            <a:r>
              <a:rPr lang="en-150" sz="1200">
                <a:solidFill>
                  <a:srgbClr val="A8C4CC"/>
                </a:solidFill>
                <a:latin typeface="Aptos" panose="020B0004020202020204" pitchFamily="34" charset="0"/>
              </a:rPr>
              <a:t>01</a:t>
            </a:r>
          </a:p>
        </p:txBody>
      </p:sp>
    </p:spTree>
    <p:extLst>
      <p:ext uri="{BB962C8B-B14F-4D97-AF65-F5344CB8AC3E}">
        <p14:creationId xmlns:p14="http://schemas.microsoft.com/office/powerpoint/2010/main" val="3644622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2FF034-347A-FE94-3ECC-2E9B52DABF8C}"/>
              </a:ext>
            </a:extLst>
          </p:cNvPr>
          <p:cNvSpPr/>
          <p:nvPr/>
        </p:nvSpPr>
        <p:spPr>
          <a:xfrm>
            <a:off x="457200" y="444500"/>
            <a:ext cx="533400" cy="63500"/>
          </a:xfrm>
          <a:prstGeom prst="rect">
            <a:avLst/>
          </a:prstGeom>
          <a:solidFill>
            <a:srgbClr val="00A2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3" name="TextBox 2">
            <a:extLst>
              <a:ext uri="{FF2B5EF4-FFF2-40B4-BE49-F238E27FC236}">
                <a16:creationId xmlns:a16="http://schemas.microsoft.com/office/drawing/2014/main" id="{AC1BBFAD-4C47-0906-6FAC-2D660E922C31}"/>
              </a:ext>
            </a:extLst>
          </p:cNvPr>
          <p:cNvSpPr txBox="1"/>
          <p:nvPr/>
        </p:nvSpPr>
        <p:spPr>
          <a:xfrm>
            <a:off x="457200" y="660399"/>
            <a:ext cx="11303000" cy="317500"/>
          </a:xfrm>
          <a:prstGeom prst="rect">
            <a:avLst/>
          </a:prstGeom>
          <a:noFill/>
        </p:spPr>
        <p:txBody>
          <a:bodyPr vert="horz" wrap="square" lIns="0" tIns="0" rIns="0" bIns="0" rtlCol="0">
            <a:noAutofit/>
          </a:bodyPr>
          <a:lstStyle/>
          <a:p>
            <a:pPr>
              <a:spcAft>
                <a:spcPts val="1000"/>
              </a:spcAft>
            </a:pPr>
            <a:r>
              <a:rPr lang="en-US" sz="1100" b="1">
                <a:solidFill>
                  <a:srgbClr val="007F83"/>
                </a:solidFill>
                <a:latin typeface="Aptos" panose="020B0004020202020204" pitchFamily="34" charset="0"/>
              </a:rPr>
              <a:t>RESEARCH QUESTION</a:t>
            </a:r>
            <a:endParaRPr lang="en-150" sz="1100" b="1">
              <a:solidFill>
                <a:srgbClr val="007F83"/>
              </a:solidFill>
              <a:latin typeface="Aptos" panose="020B0004020202020204" pitchFamily="34" charset="0"/>
            </a:endParaRPr>
          </a:p>
        </p:txBody>
      </p:sp>
      <p:sp>
        <p:nvSpPr>
          <p:cNvPr id="4" name="TextBox 3">
            <a:extLst>
              <a:ext uri="{FF2B5EF4-FFF2-40B4-BE49-F238E27FC236}">
                <a16:creationId xmlns:a16="http://schemas.microsoft.com/office/drawing/2014/main" id="{8BEB7596-1900-7F98-5E36-5C3BF878085B}"/>
              </a:ext>
            </a:extLst>
          </p:cNvPr>
          <p:cNvSpPr txBox="1"/>
          <p:nvPr/>
        </p:nvSpPr>
        <p:spPr>
          <a:xfrm>
            <a:off x="457200" y="1117599"/>
            <a:ext cx="11303000" cy="1016000"/>
          </a:xfrm>
          <a:prstGeom prst="rect">
            <a:avLst/>
          </a:prstGeom>
          <a:noFill/>
        </p:spPr>
        <p:txBody>
          <a:bodyPr vert="horz" wrap="square" lIns="0" tIns="0" rIns="0" bIns="0" rtlCol="0">
            <a:noAutofit/>
          </a:bodyPr>
          <a:lstStyle/>
          <a:p>
            <a:pPr>
              <a:spcAft>
                <a:spcPts val="1000"/>
              </a:spcAft>
            </a:pPr>
            <a:r>
              <a:rPr lang="en-US" sz="2900" b="1">
                <a:solidFill>
                  <a:srgbClr val="173347"/>
                </a:solidFill>
                <a:latin typeface="Aptos" panose="020B0004020202020204" pitchFamily="34" charset="0"/>
              </a:rPr>
              <a:t>Does the least-damaging cut recover best?</a:t>
            </a:r>
            <a:endParaRPr lang="en-150" sz="2900" b="1">
              <a:solidFill>
                <a:srgbClr val="173347"/>
              </a:solidFill>
              <a:latin typeface="Aptos" panose="020B0004020202020204" pitchFamily="34" charset="0"/>
            </a:endParaRPr>
          </a:p>
        </p:txBody>
      </p:sp>
      <p:sp>
        <p:nvSpPr>
          <p:cNvPr id="5" name="TextBox 4">
            <a:extLst>
              <a:ext uri="{FF2B5EF4-FFF2-40B4-BE49-F238E27FC236}">
                <a16:creationId xmlns:a16="http://schemas.microsoft.com/office/drawing/2014/main" id="{6AB2F42F-1D6D-7318-1A51-857ABC782607}"/>
              </a:ext>
            </a:extLst>
          </p:cNvPr>
          <p:cNvSpPr txBox="1"/>
          <p:nvPr/>
        </p:nvSpPr>
        <p:spPr>
          <a:xfrm>
            <a:off x="609600" y="2412999"/>
            <a:ext cx="10858500" cy="3708400"/>
          </a:xfrm>
          <a:prstGeom prst="rect">
            <a:avLst/>
          </a:prstGeom>
          <a:noFill/>
        </p:spPr>
        <p:txBody>
          <a:bodyPr vert="horz" wrap="square" lIns="0" tIns="0" rIns="0" bIns="0" rtlCol="0">
            <a:noAutofit/>
          </a:bodyPr>
          <a:lstStyle/>
          <a:p>
            <a:pPr>
              <a:spcAft>
                <a:spcPts val="1000"/>
              </a:spcAft>
            </a:pPr>
            <a:r>
              <a:rPr lang="en-US" sz="2100">
                <a:solidFill>
                  <a:srgbClr val="173347"/>
                </a:solidFill>
                <a:latin typeface="Aptos" panose="020B0004020202020204" pitchFamily="34" charset="0"/>
              </a:rPr>
              <a:t>Compare immediate damage with equal-budget recovered quality.</a:t>
            </a:r>
          </a:p>
          <a:p>
            <a:pPr>
              <a:spcAft>
                <a:spcPts val="1000"/>
              </a:spcAft>
            </a:pPr>
            <a:r>
              <a:rPr lang="en-US" sz="2100">
                <a:solidFill>
                  <a:srgbClr val="173347"/>
                </a:solidFill>
                <a:latin typeface="Aptos" panose="020B0004020202020204" pitchFamily="34" charset="0"/>
              </a:rPr>
              <a:t>Test whether the answer changes with compression severity and metric.</a:t>
            </a:r>
          </a:p>
          <a:p>
            <a:pPr>
              <a:spcAft>
                <a:spcPts val="1000"/>
              </a:spcAft>
            </a:pPr>
            <a:r>
              <a:rPr lang="en-US" sz="2100">
                <a:solidFill>
                  <a:srgbClr val="173347"/>
                </a:solidFill>
                <a:latin typeface="Aptos" panose="020B0004020202020204" pitchFamily="34" charset="0"/>
              </a:rPr>
              <a:t>Judge models by quality, parameters, memory and measured execution cost.</a:t>
            </a:r>
            <a:endParaRPr lang="en-150" sz="2100">
              <a:solidFill>
                <a:srgbClr val="173347"/>
              </a:solidFill>
              <a:latin typeface="Aptos" panose="020B0004020202020204" pitchFamily="34" charset="0"/>
            </a:endParaRPr>
          </a:p>
        </p:txBody>
      </p:sp>
      <p:sp>
        <p:nvSpPr>
          <p:cNvPr id="6" name="TextBox 5">
            <a:extLst>
              <a:ext uri="{FF2B5EF4-FFF2-40B4-BE49-F238E27FC236}">
                <a16:creationId xmlns:a16="http://schemas.microsoft.com/office/drawing/2014/main" id="{9732D02C-EE6F-0840-576E-B09ADB7249FC}"/>
              </a:ext>
            </a:extLst>
          </p:cNvPr>
          <p:cNvSpPr txBox="1"/>
          <p:nvPr/>
        </p:nvSpPr>
        <p:spPr>
          <a:xfrm>
            <a:off x="457200" y="6489700"/>
            <a:ext cx="10414000" cy="203200"/>
          </a:xfrm>
          <a:prstGeom prst="rect">
            <a:avLst/>
          </a:prstGeom>
          <a:noFill/>
        </p:spPr>
        <p:txBody>
          <a:bodyPr vert="horz" wrap="square" lIns="0" tIns="0" rIns="0" bIns="0" rtlCol="0">
            <a:noAutofit/>
          </a:bodyPr>
          <a:lstStyle/>
          <a:p>
            <a:pPr>
              <a:spcAft>
                <a:spcPts val="1000"/>
              </a:spcAft>
            </a:pPr>
            <a:r>
              <a:rPr lang="en-US" sz="800">
                <a:solidFill>
                  <a:srgbClr val="647581"/>
                </a:solidFill>
                <a:latin typeface="Aptos" panose="020B0004020202020204" pitchFamily="34" charset="0"/>
              </a:rPr>
              <a:t>MINITRON-INSPIRED  /  BUILT WITH QWEN  /  LOCAL MEASUREMENTS, NOT NVIDIA RESULTS</a:t>
            </a:r>
            <a:endParaRPr lang="en-150" sz="800">
              <a:solidFill>
                <a:srgbClr val="647581"/>
              </a:solidFill>
              <a:latin typeface="Aptos" panose="020B0004020202020204" pitchFamily="34" charset="0"/>
            </a:endParaRPr>
          </a:p>
        </p:txBody>
      </p:sp>
      <p:sp>
        <p:nvSpPr>
          <p:cNvPr id="7" name="TextBox 6">
            <a:extLst>
              <a:ext uri="{FF2B5EF4-FFF2-40B4-BE49-F238E27FC236}">
                <a16:creationId xmlns:a16="http://schemas.microsoft.com/office/drawing/2014/main" id="{04A7D88C-84B2-69C6-AB41-FF7821005812}"/>
              </a:ext>
            </a:extLst>
          </p:cNvPr>
          <p:cNvSpPr txBox="1"/>
          <p:nvPr/>
        </p:nvSpPr>
        <p:spPr>
          <a:xfrm>
            <a:off x="11290300" y="6426199"/>
            <a:ext cx="482600" cy="279400"/>
          </a:xfrm>
          <a:prstGeom prst="rect">
            <a:avLst/>
          </a:prstGeom>
          <a:noFill/>
        </p:spPr>
        <p:txBody>
          <a:bodyPr vert="horz" wrap="square" lIns="0" tIns="0" rIns="0" bIns="0" rtlCol="0">
            <a:noAutofit/>
          </a:bodyPr>
          <a:lstStyle/>
          <a:p>
            <a:pPr>
              <a:spcAft>
                <a:spcPts val="1000"/>
              </a:spcAft>
            </a:pPr>
            <a:r>
              <a:rPr lang="en-150" sz="1200">
                <a:solidFill>
                  <a:srgbClr val="647581"/>
                </a:solidFill>
                <a:latin typeface="Aptos" panose="020B0004020202020204" pitchFamily="34" charset="0"/>
              </a:rPr>
              <a:t>02</a:t>
            </a:r>
          </a:p>
        </p:txBody>
      </p:sp>
    </p:spTree>
    <p:extLst>
      <p:ext uri="{BB962C8B-B14F-4D97-AF65-F5344CB8AC3E}">
        <p14:creationId xmlns:p14="http://schemas.microsoft.com/office/powerpoint/2010/main" val="249610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4042DC-6629-0062-62A9-858A64D5B62B}"/>
              </a:ext>
            </a:extLst>
          </p:cNvPr>
          <p:cNvSpPr/>
          <p:nvPr/>
        </p:nvSpPr>
        <p:spPr>
          <a:xfrm>
            <a:off x="457200" y="444500"/>
            <a:ext cx="533400" cy="63500"/>
          </a:xfrm>
          <a:prstGeom prst="rect">
            <a:avLst/>
          </a:prstGeom>
          <a:solidFill>
            <a:srgbClr val="00A2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3" name="TextBox 2">
            <a:extLst>
              <a:ext uri="{FF2B5EF4-FFF2-40B4-BE49-F238E27FC236}">
                <a16:creationId xmlns:a16="http://schemas.microsoft.com/office/drawing/2014/main" id="{262988ED-D99B-1260-4584-A75E5D457412}"/>
              </a:ext>
            </a:extLst>
          </p:cNvPr>
          <p:cNvSpPr txBox="1"/>
          <p:nvPr/>
        </p:nvSpPr>
        <p:spPr>
          <a:xfrm>
            <a:off x="457200" y="660399"/>
            <a:ext cx="11303000" cy="317500"/>
          </a:xfrm>
          <a:prstGeom prst="rect">
            <a:avLst/>
          </a:prstGeom>
          <a:noFill/>
        </p:spPr>
        <p:txBody>
          <a:bodyPr vert="horz" wrap="square" lIns="0" tIns="0" rIns="0" bIns="0" rtlCol="0">
            <a:noAutofit/>
          </a:bodyPr>
          <a:lstStyle/>
          <a:p>
            <a:pPr>
              <a:spcAft>
                <a:spcPts val="1000"/>
              </a:spcAft>
            </a:pPr>
            <a:r>
              <a:rPr lang="en-US" sz="1100" b="1">
                <a:solidFill>
                  <a:srgbClr val="007F83"/>
                </a:solidFill>
                <a:latin typeface="Aptos" panose="020B0004020202020204" pitchFamily="34" charset="0"/>
              </a:rPr>
              <a:t>PREREGISTERED DESIGN</a:t>
            </a:r>
            <a:endParaRPr lang="en-150" sz="1100" b="1">
              <a:solidFill>
                <a:srgbClr val="007F83"/>
              </a:solidFill>
              <a:latin typeface="Aptos" panose="020B0004020202020204" pitchFamily="34" charset="0"/>
            </a:endParaRPr>
          </a:p>
        </p:txBody>
      </p:sp>
      <p:sp>
        <p:nvSpPr>
          <p:cNvPr id="4" name="TextBox 3">
            <a:extLst>
              <a:ext uri="{FF2B5EF4-FFF2-40B4-BE49-F238E27FC236}">
                <a16:creationId xmlns:a16="http://schemas.microsoft.com/office/drawing/2014/main" id="{74BD895F-CBD7-A7E8-4025-0A4EA61D70F3}"/>
              </a:ext>
            </a:extLst>
          </p:cNvPr>
          <p:cNvSpPr txBox="1"/>
          <p:nvPr/>
        </p:nvSpPr>
        <p:spPr>
          <a:xfrm>
            <a:off x="457200" y="1117599"/>
            <a:ext cx="11303000" cy="1016000"/>
          </a:xfrm>
          <a:prstGeom prst="rect">
            <a:avLst/>
          </a:prstGeom>
          <a:noFill/>
        </p:spPr>
        <p:txBody>
          <a:bodyPr vert="horz" wrap="square" lIns="0" tIns="0" rIns="0" bIns="0" rtlCol="0">
            <a:noAutofit/>
          </a:bodyPr>
          <a:lstStyle/>
          <a:p>
            <a:pPr>
              <a:spcAft>
                <a:spcPts val="1000"/>
              </a:spcAft>
            </a:pPr>
            <a:r>
              <a:rPr lang="en-US" sz="2900" b="1">
                <a:solidFill>
                  <a:srgbClr val="173347"/>
                </a:solidFill>
                <a:latin typeface="Aptos" panose="020B0004020202020204" pitchFamily="34" charset="0"/>
              </a:rPr>
              <a:t>A controlled experiment—not a model-size demo</a:t>
            </a:r>
            <a:endParaRPr lang="en-150" sz="2900" b="1">
              <a:solidFill>
                <a:srgbClr val="173347"/>
              </a:solidFill>
              <a:latin typeface="Aptos" panose="020B0004020202020204" pitchFamily="34" charset="0"/>
            </a:endParaRPr>
          </a:p>
        </p:txBody>
      </p:sp>
      <p:sp>
        <p:nvSpPr>
          <p:cNvPr id="5" name="TextBox 4">
            <a:extLst>
              <a:ext uri="{FF2B5EF4-FFF2-40B4-BE49-F238E27FC236}">
                <a16:creationId xmlns:a16="http://schemas.microsoft.com/office/drawing/2014/main" id="{37CCE5A3-A80B-EAC3-38B5-8770923B80EB}"/>
              </a:ext>
            </a:extLst>
          </p:cNvPr>
          <p:cNvSpPr txBox="1"/>
          <p:nvPr/>
        </p:nvSpPr>
        <p:spPr>
          <a:xfrm>
            <a:off x="609600" y="2412999"/>
            <a:ext cx="10858500" cy="3708400"/>
          </a:xfrm>
          <a:prstGeom prst="rect">
            <a:avLst/>
          </a:prstGeom>
          <a:noFill/>
        </p:spPr>
        <p:txBody>
          <a:bodyPr vert="horz" wrap="square" lIns="0" tIns="0" rIns="0" bIns="0" rtlCol="0">
            <a:noAutofit/>
          </a:bodyPr>
          <a:lstStyle/>
          <a:p>
            <a:pPr>
              <a:spcAft>
                <a:spcPts val="1000"/>
              </a:spcAft>
            </a:pPr>
            <a:r>
              <a:rPr lang="en-US" sz="2100">
                <a:solidFill>
                  <a:srgbClr val="173347"/>
                </a:solidFill>
                <a:latin typeface="Aptos" panose="020B0004020202020204" pitchFamily="34" charset="0"/>
              </a:rPr>
              <a:t>One installed, pinned 3.086B teacher; no paid API or new model download.</a:t>
            </a:r>
          </a:p>
          <a:p>
            <a:pPr>
              <a:spcAft>
                <a:spcPts val="1000"/>
              </a:spcAft>
            </a:pPr>
            <a:r>
              <a:rPr lang="en-US" sz="2100">
                <a:solidFill>
                  <a:srgbClr val="173347"/>
                </a:solidFill>
                <a:latin typeface="Aptos" panose="020B0004020202020204" pitchFamily="34" charset="0"/>
              </a:rPr>
              <a:t>Two sizes: 32 layers / FFN 9,600 and 28 layers / FFN 8,192.</a:t>
            </a:r>
          </a:p>
          <a:p>
            <a:pPr>
              <a:spcAft>
                <a:spcPts val="1000"/>
              </a:spcAft>
            </a:pPr>
            <a:r>
              <a:rPr lang="en-US" sz="2100">
                <a:solidFill>
                  <a:srgbClr val="173347"/>
                </a:solidFill>
                <a:latin typeface="Aptos" panose="020B0004020202020204" pitchFamily="34" charset="0"/>
              </a:rPr>
              <a:t>Random versus informed pruning × 3 seeds; six matched CE controls.</a:t>
            </a:r>
          </a:p>
          <a:p>
            <a:pPr>
              <a:spcAft>
                <a:spcPts val="1000"/>
              </a:spcAft>
            </a:pPr>
            <a:r>
              <a:rPr lang="en-US" sz="2100">
                <a:solidFill>
                  <a:srgbClr val="173347"/>
                </a:solidFill>
                <a:latin typeface="Aptos" panose="020B0004020202020204" pitchFamily="34" charset="0"/>
              </a:rPr>
              <a:t>Each run: 196,608 input tokens and 192 optimizer updates.</a:t>
            </a:r>
            <a:endParaRPr lang="en-150" sz="2100">
              <a:solidFill>
                <a:srgbClr val="173347"/>
              </a:solidFill>
              <a:latin typeface="Aptos" panose="020B0004020202020204" pitchFamily="34" charset="0"/>
            </a:endParaRPr>
          </a:p>
        </p:txBody>
      </p:sp>
      <p:sp>
        <p:nvSpPr>
          <p:cNvPr id="6" name="TextBox 5">
            <a:extLst>
              <a:ext uri="{FF2B5EF4-FFF2-40B4-BE49-F238E27FC236}">
                <a16:creationId xmlns:a16="http://schemas.microsoft.com/office/drawing/2014/main" id="{DDF4D293-9936-C2D7-4200-8F158E8ED5F4}"/>
              </a:ext>
            </a:extLst>
          </p:cNvPr>
          <p:cNvSpPr txBox="1"/>
          <p:nvPr/>
        </p:nvSpPr>
        <p:spPr>
          <a:xfrm>
            <a:off x="457200" y="6489700"/>
            <a:ext cx="10414000" cy="203200"/>
          </a:xfrm>
          <a:prstGeom prst="rect">
            <a:avLst/>
          </a:prstGeom>
          <a:noFill/>
        </p:spPr>
        <p:txBody>
          <a:bodyPr vert="horz" wrap="square" lIns="0" tIns="0" rIns="0" bIns="0" rtlCol="0">
            <a:noAutofit/>
          </a:bodyPr>
          <a:lstStyle/>
          <a:p>
            <a:pPr>
              <a:spcAft>
                <a:spcPts val="1000"/>
              </a:spcAft>
            </a:pPr>
            <a:r>
              <a:rPr lang="en-US" sz="800">
                <a:solidFill>
                  <a:srgbClr val="647581"/>
                </a:solidFill>
                <a:latin typeface="Aptos" panose="020B0004020202020204" pitchFamily="34" charset="0"/>
              </a:rPr>
              <a:t>MINITRON-INSPIRED  /  BUILT WITH QWEN  /  LOCAL MEASUREMENTS, NOT NVIDIA RESULTS</a:t>
            </a:r>
            <a:endParaRPr lang="en-150" sz="800">
              <a:solidFill>
                <a:srgbClr val="647581"/>
              </a:solidFill>
              <a:latin typeface="Aptos" panose="020B0004020202020204" pitchFamily="34" charset="0"/>
            </a:endParaRPr>
          </a:p>
        </p:txBody>
      </p:sp>
      <p:sp>
        <p:nvSpPr>
          <p:cNvPr id="7" name="TextBox 6">
            <a:extLst>
              <a:ext uri="{FF2B5EF4-FFF2-40B4-BE49-F238E27FC236}">
                <a16:creationId xmlns:a16="http://schemas.microsoft.com/office/drawing/2014/main" id="{61B5741F-6872-BAB8-4FCA-814B40D62334}"/>
              </a:ext>
            </a:extLst>
          </p:cNvPr>
          <p:cNvSpPr txBox="1"/>
          <p:nvPr/>
        </p:nvSpPr>
        <p:spPr>
          <a:xfrm>
            <a:off x="11290300" y="6426199"/>
            <a:ext cx="482600" cy="279400"/>
          </a:xfrm>
          <a:prstGeom prst="rect">
            <a:avLst/>
          </a:prstGeom>
          <a:noFill/>
        </p:spPr>
        <p:txBody>
          <a:bodyPr vert="horz" wrap="square" lIns="0" tIns="0" rIns="0" bIns="0" rtlCol="0">
            <a:noAutofit/>
          </a:bodyPr>
          <a:lstStyle/>
          <a:p>
            <a:pPr>
              <a:spcAft>
                <a:spcPts val="1000"/>
              </a:spcAft>
            </a:pPr>
            <a:r>
              <a:rPr lang="en-150" sz="1200">
                <a:solidFill>
                  <a:srgbClr val="647581"/>
                </a:solidFill>
                <a:latin typeface="Aptos" panose="020B0004020202020204" pitchFamily="34" charset="0"/>
              </a:rPr>
              <a:t>03</a:t>
            </a:r>
          </a:p>
        </p:txBody>
      </p:sp>
    </p:spTree>
    <p:extLst>
      <p:ext uri="{BB962C8B-B14F-4D97-AF65-F5344CB8AC3E}">
        <p14:creationId xmlns:p14="http://schemas.microsoft.com/office/powerpoint/2010/main" val="2098710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316890-915C-3DAE-6A12-31B9B287CBA9}"/>
              </a:ext>
            </a:extLst>
          </p:cNvPr>
          <p:cNvSpPr/>
          <p:nvPr/>
        </p:nvSpPr>
        <p:spPr>
          <a:xfrm>
            <a:off x="457200" y="444500"/>
            <a:ext cx="533400" cy="63500"/>
          </a:xfrm>
          <a:prstGeom prst="rect">
            <a:avLst/>
          </a:prstGeom>
          <a:solidFill>
            <a:srgbClr val="00A2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3" name="TextBox 2">
            <a:extLst>
              <a:ext uri="{FF2B5EF4-FFF2-40B4-BE49-F238E27FC236}">
                <a16:creationId xmlns:a16="http://schemas.microsoft.com/office/drawing/2014/main" id="{8E8A7512-7DDD-E98B-8CCE-748BC26C1DD6}"/>
              </a:ext>
            </a:extLst>
          </p:cNvPr>
          <p:cNvSpPr txBox="1"/>
          <p:nvPr/>
        </p:nvSpPr>
        <p:spPr>
          <a:xfrm>
            <a:off x="457200" y="660399"/>
            <a:ext cx="11303000" cy="317500"/>
          </a:xfrm>
          <a:prstGeom prst="rect">
            <a:avLst/>
          </a:prstGeom>
          <a:noFill/>
        </p:spPr>
        <p:txBody>
          <a:bodyPr vert="horz" wrap="square" lIns="0" tIns="0" rIns="0" bIns="0" rtlCol="0">
            <a:noAutofit/>
          </a:bodyPr>
          <a:lstStyle/>
          <a:p>
            <a:pPr>
              <a:spcAft>
                <a:spcPts val="1000"/>
              </a:spcAft>
            </a:pPr>
            <a:r>
              <a:rPr lang="en-US" sz="1100" b="1">
                <a:solidFill>
                  <a:srgbClr val="007F83"/>
                </a:solidFill>
                <a:latin typeface="Aptos" panose="020B0004020202020204" pitchFamily="34" charset="0"/>
              </a:rPr>
              <a:t>ALGORITHMIC CORRECTNESS</a:t>
            </a:r>
            <a:endParaRPr lang="en-150" sz="1100" b="1">
              <a:solidFill>
                <a:srgbClr val="007F83"/>
              </a:solidFill>
              <a:latin typeface="Aptos" panose="020B0004020202020204" pitchFamily="34" charset="0"/>
            </a:endParaRPr>
          </a:p>
        </p:txBody>
      </p:sp>
      <p:sp>
        <p:nvSpPr>
          <p:cNvPr id="4" name="TextBox 3">
            <a:extLst>
              <a:ext uri="{FF2B5EF4-FFF2-40B4-BE49-F238E27FC236}">
                <a16:creationId xmlns:a16="http://schemas.microsoft.com/office/drawing/2014/main" id="{D496291B-98AA-190E-C587-7990BDE4BB30}"/>
              </a:ext>
            </a:extLst>
          </p:cNvPr>
          <p:cNvSpPr txBox="1"/>
          <p:nvPr/>
        </p:nvSpPr>
        <p:spPr>
          <a:xfrm>
            <a:off x="457200" y="1117599"/>
            <a:ext cx="11303000" cy="1016000"/>
          </a:xfrm>
          <a:prstGeom prst="rect">
            <a:avLst/>
          </a:prstGeom>
          <a:noFill/>
        </p:spPr>
        <p:txBody>
          <a:bodyPr vert="horz" wrap="square" lIns="0" tIns="0" rIns="0" bIns="0" rtlCol="0">
            <a:noAutofit/>
          </a:bodyPr>
          <a:lstStyle/>
          <a:p>
            <a:pPr>
              <a:spcAft>
                <a:spcPts val="1000"/>
              </a:spcAft>
            </a:pPr>
            <a:r>
              <a:rPr lang="en-US" sz="2900" b="1">
                <a:solidFill>
                  <a:srgbClr val="173347"/>
                </a:solidFill>
                <a:latin typeface="Aptos" panose="020B0004020202020204" pitchFamily="34" charset="0"/>
              </a:rPr>
              <a:t>Physical pruning with an exact removal recipe</a:t>
            </a:r>
            <a:endParaRPr lang="en-150" sz="2900" b="1">
              <a:solidFill>
                <a:srgbClr val="173347"/>
              </a:solidFill>
              <a:latin typeface="Aptos" panose="020B0004020202020204" pitchFamily="34" charset="0"/>
            </a:endParaRPr>
          </a:p>
        </p:txBody>
      </p:sp>
      <p:sp>
        <p:nvSpPr>
          <p:cNvPr id="5" name="TextBox 4">
            <a:extLst>
              <a:ext uri="{FF2B5EF4-FFF2-40B4-BE49-F238E27FC236}">
                <a16:creationId xmlns:a16="http://schemas.microsoft.com/office/drawing/2014/main" id="{C178EB2C-58B3-2808-9045-3254B56E7C96}"/>
              </a:ext>
            </a:extLst>
          </p:cNvPr>
          <p:cNvSpPr txBox="1"/>
          <p:nvPr/>
        </p:nvSpPr>
        <p:spPr>
          <a:xfrm>
            <a:off x="609600" y="2412999"/>
            <a:ext cx="10858500" cy="3708400"/>
          </a:xfrm>
          <a:prstGeom prst="rect">
            <a:avLst/>
          </a:prstGeom>
          <a:noFill/>
        </p:spPr>
        <p:txBody>
          <a:bodyPr vert="horz" wrap="square" lIns="0" tIns="0" rIns="0" bIns="0" rtlCol="0">
            <a:noAutofit/>
          </a:bodyPr>
          <a:lstStyle/>
          <a:p>
            <a:pPr>
              <a:spcAft>
                <a:spcPts val="1000"/>
              </a:spcAft>
            </a:pPr>
            <a:r>
              <a:rPr lang="en-US" sz="2100">
                <a:solidFill>
                  <a:srgbClr val="173347"/>
                </a:solidFill>
                <a:latin typeface="Aptos" panose="020B0004020202020204" pitchFamily="34" charset="0"/>
              </a:rPr>
              <a:t>Depth: remove internal contiguous blocks; preserve boundary layers.</a:t>
            </a:r>
          </a:p>
          <a:p>
            <a:pPr>
              <a:spcAft>
                <a:spcPts val="1000"/>
              </a:spcAft>
            </a:pPr>
            <a:r>
              <a:rPr lang="en-US" sz="2100">
                <a:solidFill>
                  <a:srgbClr val="173347"/>
                </a:solidFill>
                <a:latin typeface="Aptos" panose="020B0004020202020204" pitchFamily="34" charset="0"/>
              </a:rPr>
              <a:t>Informed depth: calibration NLL; informed FFN: coupled L2 magnitude.</a:t>
            </a:r>
          </a:p>
          <a:p>
            <a:pPr>
              <a:spcAft>
                <a:spcPts val="1000"/>
              </a:spcAft>
            </a:pPr>
            <a:r>
              <a:rPr lang="en-US" sz="2100">
                <a:solidFill>
                  <a:srgbClr val="173347"/>
                </a:solidFill>
                <a:latin typeface="Aptos" panose="020B0004020202020204" pitchFamily="34" charset="0"/>
              </a:rPr>
              <a:t>FFN: slice gate/up rows and matching down columns—not masks.</a:t>
            </a:r>
          </a:p>
          <a:p>
            <a:pPr>
              <a:spcAft>
                <a:spcPts val="1000"/>
              </a:spcAft>
            </a:pPr>
            <a:r>
              <a:rPr lang="en-US" sz="2100">
                <a:solidFill>
                  <a:srgbClr val="173347"/>
                </a:solidFill>
                <a:latin typeface="Aptos" panose="020B0004020202020204" pitchFamily="34" charset="0"/>
              </a:rPr>
              <a:t>Every layer/channel ID is saved; save/reload shape tests passed.</a:t>
            </a:r>
            <a:endParaRPr lang="en-150" sz="2100">
              <a:solidFill>
                <a:srgbClr val="173347"/>
              </a:solidFill>
              <a:latin typeface="Aptos" panose="020B0004020202020204" pitchFamily="34" charset="0"/>
            </a:endParaRPr>
          </a:p>
        </p:txBody>
      </p:sp>
      <p:sp>
        <p:nvSpPr>
          <p:cNvPr id="6" name="TextBox 5">
            <a:extLst>
              <a:ext uri="{FF2B5EF4-FFF2-40B4-BE49-F238E27FC236}">
                <a16:creationId xmlns:a16="http://schemas.microsoft.com/office/drawing/2014/main" id="{725F87E2-6D88-869C-DBCD-E5F0E53D2FFC}"/>
              </a:ext>
            </a:extLst>
          </p:cNvPr>
          <p:cNvSpPr txBox="1"/>
          <p:nvPr/>
        </p:nvSpPr>
        <p:spPr>
          <a:xfrm>
            <a:off x="457200" y="6489700"/>
            <a:ext cx="10414000" cy="203200"/>
          </a:xfrm>
          <a:prstGeom prst="rect">
            <a:avLst/>
          </a:prstGeom>
          <a:noFill/>
        </p:spPr>
        <p:txBody>
          <a:bodyPr vert="horz" wrap="square" lIns="0" tIns="0" rIns="0" bIns="0" rtlCol="0">
            <a:noAutofit/>
          </a:bodyPr>
          <a:lstStyle/>
          <a:p>
            <a:pPr>
              <a:spcAft>
                <a:spcPts val="1000"/>
              </a:spcAft>
            </a:pPr>
            <a:r>
              <a:rPr lang="en-US" sz="800">
                <a:solidFill>
                  <a:srgbClr val="647581"/>
                </a:solidFill>
                <a:latin typeface="Aptos" panose="020B0004020202020204" pitchFamily="34" charset="0"/>
              </a:rPr>
              <a:t>MINITRON-INSPIRED  /  BUILT WITH QWEN  /  LOCAL MEASUREMENTS, NOT NVIDIA RESULTS</a:t>
            </a:r>
            <a:endParaRPr lang="en-150" sz="800">
              <a:solidFill>
                <a:srgbClr val="647581"/>
              </a:solidFill>
              <a:latin typeface="Aptos" panose="020B0004020202020204" pitchFamily="34" charset="0"/>
            </a:endParaRPr>
          </a:p>
        </p:txBody>
      </p:sp>
      <p:sp>
        <p:nvSpPr>
          <p:cNvPr id="7" name="TextBox 6">
            <a:extLst>
              <a:ext uri="{FF2B5EF4-FFF2-40B4-BE49-F238E27FC236}">
                <a16:creationId xmlns:a16="http://schemas.microsoft.com/office/drawing/2014/main" id="{903D85A4-797E-F73A-8957-4713E25D88C9}"/>
              </a:ext>
            </a:extLst>
          </p:cNvPr>
          <p:cNvSpPr txBox="1"/>
          <p:nvPr/>
        </p:nvSpPr>
        <p:spPr>
          <a:xfrm>
            <a:off x="11290300" y="6426199"/>
            <a:ext cx="482600" cy="279400"/>
          </a:xfrm>
          <a:prstGeom prst="rect">
            <a:avLst/>
          </a:prstGeom>
          <a:noFill/>
        </p:spPr>
        <p:txBody>
          <a:bodyPr vert="horz" wrap="square" lIns="0" tIns="0" rIns="0" bIns="0" rtlCol="0">
            <a:noAutofit/>
          </a:bodyPr>
          <a:lstStyle/>
          <a:p>
            <a:pPr>
              <a:spcAft>
                <a:spcPts val="1000"/>
              </a:spcAft>
            </a:pPr>
            <a:r>
              <a:rPr lang="en-150" sz="1200">
                <a:solidFill>
                  <a:srgbClr val="647581"/>
                </a:solidFill>
                <a:latin typeface="Aptos" panose="020B0004020202020204" pitchFamily="34" charset="0"/>
              </a:rPr>
              <a:t>04</a:t>
            </a:r>
          </a:p>
        </p:txBody>
      </p:sp>
    </p:spTree>
    <p:extLst>
      <p:ext uri="{BB962C8B-B14F-4D97-AF65-F5344CB8AC3E}">
        <p14:creationId xmlns:p14="http://schemas.microsoft.com/office/powerpoint/2010/main" val="4029294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C76063-B888-2255-C156-DE81F88E1851}"/>
              </a:ext>
            </a:extLst>
          </p:cNvPr>
          <p:cNvSpPr/>
          <p:nvPr/>
        </p:nvSpPr>
        <p:spPr>
          <a:xfrm>
            <a:off x="457200" y="444500"/>
            <a:ext cx="533400" cy="63500"/>
          </a:xfrm>
          <a:prstGeom prst="rect">
            <a:avLst/>
          </a:prstGeom>
          <a:solidFill>
            <a:srgbClr val="00A2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3" name="TextBox 2">
            <a:extLst>
              <a:ext uri="{FF2B5EF4-FFF2-40B4-BE49-F238E27FC236}">
                <a16:creationId xmlns:a16="http://schemas.microsoft.com/office/drawing/2014/main" id="{087C55AE-47E2-DC46-0D76-C497F1836471}"/>
              </a:ext>
            </a:extLst>
          </p:cNvPr>
          <p:cNvSpPr txBox="1"/>
          <p:nvPr/>
        </p:nvSpPr>
        <p:spPr>
          <a:xfrm>
            <a:off x="457200" y="660399"/>
            <a:ext cx="11303000" cy="317500"/>
          </a:xfrm>
          <a:prstGeom prst="rect">
            <a:avLst/>
          </a:prstGeom>
          <a:noFill/>
        </p:spPr>
        <p:txBody>
          <a:bodyPr vert="horz" wrap="square" lIns="0" tIns="0" rIns="0" bIns="0" rtlCol="0">
            <a:noAutofit/>
          </a:bodyPr>
          <a:lstStyle/>
          <a:p>
            <a:pPr>
              <a:spcAft>
                <a:spcPts val="1000"/>
              </a:spcAft>
            </a:pPr>
            <a:r>
              <a:rPr lang="en-US" sz="1100" b="1">
                <a:solidFill>
                  <a:srgbClr val="007F83"/>
                </a:solidFill>
                <a:latin typeface="Aptos" panose="020B0004020202020204" pitchFamily="34" charset="0"/>
              </a:rPr>
              <a:t>CALIBRATION ONLY</a:t>
            </a:r>
            <a:endParaRPr lang="en-150" sz="1100" b="1">
              <a:solidFill>
                <a:srgbClr val="007F83"/>
              </a:solidFill>
              <a:latin typeface="Aptos" panose="020B0004020202020204" pitchFamily="34" charset="0"/>
            </a:endParaRPr>
          </a:p>
        </p:txBody>
      </p:sp>
      <p:sp>
        <p:nvSpPr>
          <p:cNvPr id="4" name="TextBox 3">
            <a:extLst>
              <a:ext uri="{FF2B5EF4-FFF2-40B4-BE49-F238E27FC236}">
                <a16:creationId xmlns:a16="http://schemas.microsoft.com/office/drawing/2014/main" id="{AB4CA396-B401-C5AD-1444-84AB1AD47E2F}"/>
              </a:ext>
            </a:extLst>
          </p:cNvPr>
          <p:cNvSpPr txBox="1"/>
          <p:nvPr/>
        </p:nvSpPr>
        <p:spPr>
          <a:xfrm>
            <a:off x="457200" y="1117599"/>
            <a:ext cx="11303000" cy="1016000"/>
          </a:xfrm>
          <a:prstGeom prst="rect">
            <a:avLst/>
          </a:prstGeom>
          <a:noFill/>
        </p:spPr>
        <p:txBody>
          <a:bodyPr vert="horz" wrap="square" lIns="0" tIns="0" rIns="0" bIns="0" rtlCol="0">
            <a:noAutofit/>
          </a:bodyPr>
          <a:lstStyle/>
          <a:p>
            <a:pPr>
              <a:spcAft>
                <a:spcPts val="1000"/>
              </a:spcAft>
            </a:pPr>
            <a:r>
              <a:rPr lang="en-US" sz="2900" b="1">
                <a:solidFill>
                  <a:srgbClr val="173347"/>
                </a:solidFill>
                <a:latin typeface="Aptos" panose="020B0004020202020204" pitchFamily="34" charset="0"/>
              </a:rPr>
              <a:t>Sensitivity is measured before recovery</a:t>
            </a:r>
            <a:endParaRPr lang="en-150" sz="2900" b="1">
              <a:solidFill>
                <a:srgbClr val="173347"/>
              </a:solidFill>
              <a:latin typeface="Aptos" panose="020B0004020202020204" pitchFamily="34" charset="0"/>
            </a:endParaRPr>
          </a:p>
        </p:txBody>
      </p:sp>
      <p:sp>
        <p:nvSpPr>
          <p:cNvPr id="5" name="TextBox 4">
            <a:extLst>
              <a:ext uri="{FF2B5EF4-FFF2-40B4-BE49-F238E27FC236}">
                <a16:creationId xmlns:a16="http://schemas.microsoft.com/office/drawing/2014/main" id="{7ED45161-625C-8BF2-75DE-6FC229081FF8}"/>
              </a:ext>
            </a:extLst>
          </p:cNvPr>
          <p:cNvSpPr txBox="1"/>
          <p:nvPr/>
        </p:nvSpPr>
        <p:spPr>
          <a:xfrm>
            <a:off x="457200" y="2311399"/>
            <a:ext cx="4191000" cy="3784600"/>
          </a:xfrm>
          <a:prstGeom prst="rect">
            <a:avLst/>
          </a:prstGeom>
          <a:noFill/>
        </p:spPr>
        <p:txBody>
          <a:bodyPr vert="horz" wrap="square" lIns="0" tIns="0" rIns="0" bIns="0" rtlCol="0">
            <a:noAutofit/>
          </a:bodyPr>
          <a:lstStyle/>
          <a:p>
            <a:pPr>
              <a:spcAft>
                <a:spcPts val="1000"/>
              </a:spcAft>
            </a:pPr>
            <a:r>
              <a:rPr lang="en-US" sz="1600">
                <a:solidFill>
                  <a:srgbClr val="173347"/>
                </a:solidFill>
                <a:latin typeface="Aptos" panose="020B0004020202020204" pitchFamily="34" charset="0"/>
              </a:rPr>
              <a:t>32 fixed calibration blocks; test data does not rank structures.</a:t>
            </a:r>
          </a:p>
          <a:p>
            <a:pPr>
              <a:spcAft>
                <a:spcPts val="1000"/>
              </a:spcAft>
            </a:pPr>
            <a:r>
              <a:rPr lang="en-US" sz="1600">
                <a:solidFill>
                  <a:srgbClr val="173347"/>
                </a:solidFill>
                <a:latin typeface="Aptos" panose="020B0004020202020204" pitchFamily="34" charset="0"/>
              </a:rPr>
              <a:t>Different depth windows have different immediate damage.</a:t>
            </a:r>
          </a:p>
          <a:p>
            <a:pPr>
              <a:spcAft>
                <a:spcPts val="1000"/>
              </a:spcAft>
            </a:pPr>
            <a:r>
              <a:rPr lang="en-US" sz="1600">
                <a:solidFill>
                  <a:srgbClr val="173347"/>
                </a:solidFill>
                <a:latin typeface="Aptos" panose="020B0004020202020204" pitchFamily="34" charset="0"/>
              </a:rPr>
              <a:t>FFN score-distribution map and exact channel selections are included.</a:t>
            </a:r>
            <a:endParaRPr lang="en-150" sz="1600">
              <a:solidFill>
                <a:srgbClr val="173347"/>
              </a:solidFill>
              <a:latin typeface="Aptos" panose="020B0004020202020204" pitchFamily="34" charset="0"/>
            </a:endParaRPr>
          </a:p>
        </p:txBody>
      </p:sp>
      <p:pic>
        <p:nvPicPr>
          <p:cNvPr id="7" name="Graphic 6">
            <a:extLst>
              <a:ext uri="{FF2B5EF4-FFF2-40B4-BE49-F238E27FC236}">
                <a16:creationId xmlns:a16="http://schemas.microsoft.com/office/drawing/2014/main" id="{B2756A6A-2B87-70AA-681C-0573A7F97D72}"/>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838700" y="2311400"/>
            <a:ext cx="6921500" cy="3390900"/>
          </a:xfrm>
          <a:prstGeom prst="rect">
            <a:avLst/>
          </a:prstGeom>
        </p:spPr>
      </p:pic>
      <p:sp>
        <p:nvSpPr>
          <p:cNvPr id="8" name="TextBox 7">
            <a:extLst>
              <a:ext uri="{FF2B5EF4-FFF2-40B4-BE49-F238E27FC236}">
                <a16:creationId xmlns:a16="http://schemas.microsoft.com/office/drawing/2014/main" id="{CB1DA75B-18A7-DCCA-E8FB-DD0F8B8D3A48}"/>
              </a:ext>
            </a:extLst>
          </p:cNvPr>
          <p:cNvSpPr txBox="1"/>
          <p:nvPr/>
        </p:nvSpPr>
        <p:spPr>
          <a:xfrm>
            <a:off x="4914900" y="5791199"/>
            <a:ext cx="6731000" cy="406400"/>
          </a:xfrm>
          <a:prstGeom prst="rect">
            <a:avLst/>
          </a:prstGeom>
          <a:noFill/>
        </p:spPr>
        <p:txBody>
          <a:bodyPr vert="horz" wrap="square" lIns="0" tIns="0" rIns="0" bIns="0" rtlCol="0">
            <a:noAutofit/>
          </a:bodyPr>
          <a:lstStyle/>
          <a:p>
            <a:pPr>
              <a:spcAft>
                <a:spcPts val="1000"/>
              </a:spcAft>
            </a:pPr>
            <a:r>
              <a:rPr lang="en-US" sz="1000">
                <a:solidFill>
                  <a:srgbClr val="647581"/>
                </a:solidFill>
                <a:latin typeface="Aptos" panose="020B0004020202020204" pitchFamily="34" charset="0"/>
              </a:rPr>
              <a:t>Measured local data. Raw timings and per-seed results are retained.</a:t>
            </a:r>
            <a:endParaRPr lang="en-150" sz="1000">
              <a:solidFill>
                <a:srgbClr val="647581"/>
              </a:solidFill>
              <a:latin typeface="Aptos" panose="020B0004020202020204" pitchFamily="34" charset="0"/>
            </a:endParaRPr>
          </a:p>
        </p:txBody>
      </p:sp>
      <p:sp>
        <p:nvSpPr>
          <p:cNvPr id="9" name="TextBox 8">
            <a:extLst>
              <a:ext uri="{FF2B5EF4-FFF2-40B4-BE49-F238E27FC236}">
                <a16:creationId xmlns:a16="http://schemas.microsoft.com/office/drawing/2014/main" id="{E3EECDD4-3E19-0980-24A3-E378BFA4C2E2}"/>
              </a:ext>
            </a:extLst>
          </p:cNvPr>
          <p:cNvSpPr txBox="1"/>
          <p:nvPr/>
        </p:nvSpPr>
        <p:spPr>
          <a:xfrm>
            <a:off x="457200" y="6489700"/>
            <a:ext cx="10414000" cy="203200"/>
          </a:xfrm>
          <a:prstGeom prst="rect">
            <a:avLst/>
          </a:prstGeom>
          <a:noFill/>
        </p:spPr>
        <p:txBody>
          <a:bodyPr vert="horz" wrap="square" lIns="0" tIns="0" rIns="0" bIns="0" rtlCol="0">
            <a:noAutofit/>
          </a:bodyPr>
          <a:lstStyle/>
          <a:p>
            <a:pPr>
              <a:spcAft>
                <a:spcPts val="1000"/>
              </a:spcAft>
            </a:pPr>
            <a:r>
              <a:rPr lang="en-US" sz="800">
                <a:solidFill>
                  <a:srgbClr val="647581"/>
                </a:solidFill>
                <a:latin typeface="Aptos" panose="020B0004020202020204" pitchFamily="34" charset="0"/>
              </a:rPr>
              <a:t>MINITRON-INSPIRED  /  BUILT WITH QWEN  /  LOCAL MEASUREMENTS, NOT NVIDIA RESULTS</a:t>
            </a:r>
            <a:endParaRPr lang="en-150" sz="800">
              <a:solidFill>
                <a:srgbClr val="647581"/>
              </a:solidFill>
              <a:latin typeface="Aptos" panose="020B0004020202020204" pitchFamily="34" charset="0"/>
            </a:endParaRPr>
          </a:p>
        </p:txBody>
      </p:sp>
      <p:sp>
        <p:nvSpPr>
          <p:cNvPr id="10" name="TextBox 9">
            <a:extLst>
              <a:ext uri="{FF2B5EF4-FFF2-40B4-BE49-F238E27FC236}">
                <a16:creationId xmlns:a16="http://schemas.microsoft.com/office/drawing/2014/main" id="{A6ACE19A-0F58-0173-1F7D-B2F3DE197E8B}"/>
              </a:ext>
            </a:extLst>
          </p:cNvPr>
          <p:cNvSpPr txBox="1"/>
          <p:nvPr/>
        </p:nvSpPr>
        <p:spPr>
          <a:xfrm>
            <a:off x="11290300" y="6426199"/>
            <a:ext cx="482600" cy="279400"/>
          </a:xfrm>
          <a:prstGeom prst="rect">
            <a:avLst/>
          </a:prstGeom>
          <a:noFill/>
        </p:spPr>
        <p:txBody>
          <a:bodyPr vert="horz" wrap="square" lIns="0" tIns="0" rIns="0" bIns="0" rtlCol="0">
            <a:noAutofit/>
          </a:bodyPr>
          <a:lstStyle/>
          <a:p>
            <a:pPr>
              <a:spcAft>
                <a:spcPts val="1000"/>
              </a:spcAft>
            </a:pPr>
            <a:r>
              <a:rPr lang="en-150" sz="1200">
                <a:solidFill>
                  <a:srgbClr val="647581"/>
                </a:solidFill>
                <a:latin typeface="Aptos" panose="020B0004020202020204" pitchFamily="34" charset="0"/>
              </a:rPr>
              <a:t>05</a:t>
            </a:r>
          </a:p>
        </p:txBody>
      </p:sp>
    </p:spTree>
    <p:extLst>
      <p:ext uri="{BB962C8B-B14F-4D97-AF65-F5344CB8AC3E}">
        <p14:creationId xmlns:p14="http://schemas.microsoft.com/office/powerpoint/2010/main" val="3657365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DC23D5-F49A-65B4-676A-B5DA2C7B9144}"/>
              </a:ext>
            </a:extLst>
          </p:cNvPr>
          <p:cNvSpPr/>
          <p:nvPr/>
        </p:nvSpPr>
        <p:spPr>
          <a:xfrm>
            <a:off x="457200" y="444500"/>
            <a:ext cx="533400" cy="63500"/>
          </a:xfrm>
          <a:prstGeom prst="rect">
            <a:avLst/>
          </a:prstGeom>
          <a:solidFill>
            <a:srgbClr val="00A2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3" name="TextBox 2">
            <a:extLst>
              <a:ext uri="{FF2B5EF4-FFF2-40B4-BE49-F238E27FC236}">
                <a16:creationId xmlns:a16="http://schemas.microsoft.com/office/drawing/2014/main" id="{3E124CE9-C126-A881-B94D-5C630EB014D4}"/>
              </a:ext>
            </a:extLst>
          </p:cNvPr>
          <p:cNvSpPr txBox="1"/>
          <p:nvPr/>
        </p:nvSpPr>
        <p:spPr>
          <a:xfrm>
            <a:off x="457200" y="660399"/>
            <a:ext cx="11303000" cy="317500"/>
          </a:xfrm>
          <a:prstGeom prst="rect">
            <a:avLst/>
          </a:prstGeom>
          <a:noFill/>
        </p:spPr>
        <p:txBody>
          <a:bodyPr vert="horz" wrap="square" lIns="0" tIns="0" rIns="0" bIns="0" rtlCol="0">
            <a:noAutofit/>
          </a:bodyPr>
          <a:lstStyle/>
          <a:p>
            <a:pPr>
              <a:spcAft>
                <a:spcPts val="1000"/>
              </a:spcAft>
            </a:pPr>
            <a:r>
              <a:rPr lang="en-US" sz="1100" b="1">
                <a:solidFill>
                  <a:srgbClr val="007F83"/>
                </a:solidFill>
                <a:latin typeface="Aptos" panose="020B0004020202020204" pitchFamily="34" charset="0"/>
              </a:rPr>
              <a:t>RESOURCE-AWARE TRAINING</a:t>
            </a:r>
            <a:endParaRPr lang="en-150" sz="1100" b="1">
              <a:solidFill>
                <a:srgbClr val="007F83"/>
              </a:solidFill>
              <a:latin typeface="Aptos" panose="020B0004020202020204" pitchFamily="34" charset="0"/>
            </a:endParaRPr>
          </a:p>
        </p:txBody>
      </p:sp>
      <p:sp>
        <p:nvSpPr>
          <p:cNvPr id="4" name="TextBox 3">
            <a:extLst>
              <a:ext uri="{FF2B5EF4-FFF2-40B4-BE49-F238E27FC236}">
                <a16:creationId xmlns:a16="http://schemas.microsoft.com/office/drawing/2014/main" id="{E3600C11-DFAB-CE71-E6BF-23D24EF6CBDC}"/>
              </a:ext>
            </a:extLst>
          </p:cNvPr>
          <p:cNvSpPr txBox="1"/>
          <p:nvPr/>
        </p:nvSpPr>
        <p:spPr>
          <a:xfrm>
            <a:off x="457200" y="1117599"/>
            <a:ext cx="11303000" cy="1016000"/>
          </a:xfrm>
          <a:prstGeom prst="rect">
            <a:avLst/>
          </a:prstGeom>
          <a:noFill/>
        </p:spPr>
        <p:txBody>
          <a:bodyPr vert="horz" wrap="square" lIns="0" tIns="0" rIns="0" bIns="0" rtlCol="0">
            <a:noAutofit/>
          </a:bodyPr>
          <a:lstStyle/>
          <a:p>
            <a:pPr>
              <a:spcAft>
                <a:spcPts val="1000"/>
              </a:spcAft>
            </a:pPr>
            <a:r>
              <a:rPr lang="en-US" sz="2900" b="1">
                <a:solidFill>
                  <a:srgbClr val="173347"/>
                </a:solidFill>
                <a:latin typeface="Aptos" panose="020B0004020202020204" pitchFamily="34" charset="0"/>
              </a:rPr>
              <a:t>Full-vocabulary KD without two large GPU models</a:t>
            </a:r>
            <a:endParaRPr lang="en-150" sz="2900" b="1">
              <a:solidFill>
                <a:srgbClr val="173347"/>
              </a:solidFill>
              <a:latin typeface="Aptos" panose="020B0004020202020204" pitchFamily="34" charset="0"/>
            </a:endParaRPr>
          </a:p>
        </p:txBody>
      </p:sp>
      <p:sp>
        <p:nvSpPr>
          <p:cNvPr id="5" name="TextBox 4">
            <a:extLst>
              <a:ext uri="{FF2B5EF4-FFF2-40B4-BE49-F238E27FC236}">
                <a16:creationId xmlns:a16="http://schemas.microsoft.com/office/drawing/2014/main" id="{8E81291D-9BA4-4BA8-6121-E6DFB47606A9}"/>
              </a:ext>
            </a:extLst>
          </p:cNvPr>
          <p:cNvSpPr txBox="1"/>
          <p:nvPr/>
        </p:nvSpPr>
        <p:spPr>
          <a:xfrm>
            <a:off x="609600" y="2412999"/>
            <a:ext cx="10858500" cy="3708400"/>
          </a:xfrm>
          <a:prstGeom prst="rect">
            <a:avLst/>
          </a:prstGeom>
          <a:noFill/>
        </p:spPr>
        <p:txBody>
          <a:bodyPr vert="horz" wrap="square" lIns="0" tIns="0" rIns="0" bIns="0" rtlCol="0">
            <a:noAutofit/>
          </a:bodyPr>
          <a:lstStyle/>
          <a:p>
            <a:pPr>
              <a:spcAft>
                <a:spcPts val="1000"/>
              </a:spcAft>
            </a:pPr>
            <a:r>
              <a:rPr lang="en-US" sz="2100">
                <a:solidFill>
                  <a:srgbClr val="173347"/>
                </a:solidFill>
                <a:latin typeface="Aptos" panose="020B0004020202020204" pitchFamily="34" charset="0"/>
              </a:rPr>
              <a:t>Teacher target shard → unload teacher → recover students.</a:t>
            </a:r>
          </a:p>
          <a:p>
            <a:pPr>
              <a:spcAft>
                <a:spcPts val="1000"/>
              </a:spcAft>
            </a:pPr>
            <a:r>
              <a:rPr lang="en-US" sz="2100">
                <a:solidFill>
                  <a:srgbClr val="173347"/>
                </a:solidFill>
                <a:latin typeface="Aptos" panose="020B0004020202020204" pitchFamily="34" charset="0"/>
              </a:rPr>
              <a:t>Forward KL at T=2 with T² scaling; KL-only versus CE-only.</a:t>
            </a:r>
          </a:p>
          <a:p>
            <a:pPr>
              <a:spcAft>
                <a:spcPts val="1000"/>
              </a:spcAft>
            </a:pPr>
            <a:r>
              <a:rPr lang="en-US" sz="2100">
                <a:solidFill>
                  <a:srgbClr val="173347"/>
                </a:solidFill>
                <a:latin typeface="Aptos" panose="020B0004020202020204" pitchFamily="34" charset="0"/>
              </a:rPr>
              <a:t>Rank-8 q/v LoRA, FP16 frozen base, FP32 adapters, checkpointing.</a:t>
            </a:r>
          </a:p>
          <a:p>
            <a:pPr>
              <a:spcAft>
                <a:spcPts val="1000"/>
              </a:spcAft>
            </a:pPr>
            <a:r>
              <a:rPr lang="en-US" sz="2100">
                <a:solidFill>
                  <a:srgbClr val="173347"/>
                </a:solidFill>
                <a:latin typeface="Aptos" panose="020B0004020202020204" pitchFamily="34" charset="0"/>
              </a:rPr>
              <a:t>Atomic checkpoints each update; bounded disk and thermal guards.</a:t>
            </a:r>
            <a:endParaRPr lang="en-150" sz="2100">
              <a:solidFill>
                <a:srgbClr val="173347"/>
              </a:solidFill>
              <a:latin typeface="Aptos" panose="020B0004020202020204" pitchFamily="34" charset="0"/>
            </a:endParaRPr>
          </a:p>
        </p:txBody>
      </p:sp>
      <p:sp>
        <p:nvSpPr>
          <p:cNvPr id="6" name="TextBox 5">
            <a:extLst>
              <a:ext uri="{FF2B5EF4-FFF2-40B4-BE49-F238E27FC236}">
                <a16:creationId xmlns:a16="http://schemas.microsoft.com/office/drawing/2014/main" id="{75D668F1-D447-7DDC-451A-973A917FE400}"/>
              </a:ext>
            </a:extLst>
          </p:cNvPr>
          <p:cNvSpPr txBox="1"/>
          <p:nvPr/>
        </p:nvSpPr>
        <p:spPr>
          <a:xfrm>
            <a:off x="457200" y="6489700"/>
            <a:ext cx="10414000" cy="203200"/>
          </a:xfrm>
          <a:prstGeom prst="rect">
            <a:avLst/>
          </a:prstGeom>
          <a:noFill/>
        </p:spPr>
        <p:txBody>
          <a:bodyPr vert="horz" wrap="square" lIns="0" tIns="0" rIns="0" bIns="0" rtlCol="0">
            <a:noAutofit/>
          </a:bodyPr>
          <a:lstStyle/>
          <a:p>
            <a:pPr>
              <a:spcAft>
                <a:spcPts val="1000"/>
              </a:spcAft>
            </a:pPr>
            <a:r>
              <a:rPr lang="en-US" sz="800">
                <a:solidFill>
                  <a:srgbClr val="647581"/>
                </a:solidFill>
                <a:latin typeface="Aptos" panose="020B0004020202020204" pitchFamily="34" charset="0"/>
              </a:rPr>
              <a:t>MINITRON-INSPIRED  /  BUILT WITH QWEN  /  LOCAL MEASUREMENTS, NOT NVIDIA RESULTS</a:t>
            </a:r>
            <a:endParaRPr lang="en-150" sz="800">
              <a:solidFill>
                <a:srgbClr val="647581"/>
              </a:solidFill>
              <a:latin typeface="Aptos" panose="020B0004020202020204" pitchFamily="34" charset="0"/>
            </a:endParaRPr>
          </a:p>
        </p:txBody>
      </p:sp>
      <p:sp>
        <p:nvSpPr>
          <p:cNvPr id="7" name="TextBox 6">
            <a:extLst>
              <a:ext uri="{FF2B5EF4-FFF2-40B4-BE49-F238E27FC236}">
                <a16:creationId xmlns:a16="http://schemas.microsoft.com/office/drawing/2014/main" id="{9C1AB35A-42D7-80DE-AA60-E766B5A032A5}"/>
              </a:ext>
            </a:extLst>
          </p:cNvPr>
          <p:cNvSpPr txBox="1"/>
          <p:nvPr/>
        </p:nvSpPr>
        <p:spPr>
          <a:xfrm>
            <a:off x="11290300" y="6426199"/>
            <a:ext cx="482600" cy="279400"/>
          </a:xfrm>
          <a:prstGeom prst="rect">
            <a:avLst/>
          </a:prstGeom>
          <a:noFill/>
        </p:spPr>
        <p:txBody>
          <a:bodyPr vert="horz" wrap="square" lIns="0" tIns="0" rIns="0" bIns="0" rtlCol="0">
            <a:noAutofit/>
          </a:bodyPr>
          <a:lstStyle/>
          <a:p>
            <a:pPr>
              <a:spcAft>
                <a:spcPts val="1000"/>
              </a:spcAft>
            </a:pPr>
            <a:r>
              <a:rPr lang="en-150" sz="1200">
                <a:solidFill>
                  <a:srgbClr val="647581"/>
                </a:solidFill>
                <a:latin typeface="Aptos" panose="020B0004020202020204" pitchFamily="34" charset="0"/>
              </a:rPr>
              <a:t>06</a:t>
            </a:r>
          </a:p>
        </p:txBody>
      </p:sp>
    </p:spTree>
    <p:extLst>
      <p:ext uri="{BB962C8B-B14F-4D97-AF65-F5344CB8AC3E}">
        <p14:creationId xmlns:p14="http://schemas.microsoft.com/office/powerpoint/2010/main" val="4193745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A2C604-2EC4-58F7-A0D3-B21780FDCFE9}"/>
              </a:ext>
            </a:extLst>
          </p:cNvPr>
          <p:cNvSpPr/>
          <p:nvPr/>
        </p:nvSpPr>
        <p:spPr>
          <a:xfrm>
            <a:off x="457200" y="444500"/>
            <a:ext cx="533400" cy="63500"/>
          </a:xfrm>
          <a:prstGeom prst="rect">
            <a:avLst/>
          </a:prstGeom>
          <a:solidFill>
            <a:srgbClr val="00A2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3" name="TextBox 2">
            <a:extLst>
              <a:ext uri="{FF2B5EF4-FFF2-40B4-BE49-F238E27FC236}">
                <a16:creationId xmlns:a16="http://schemas.microsoft.com/office/drawing/2014/main" id="{4F4D5307-C430-C823-DB4A-334A2E9325A9}"/>
              </a:ext>
            </a:extLst>
          </p:cNvPr>
          <p:cNvSpPr txBox="1"/>
          <p:nvPr/>
        </p:nvSpPr>
        <p:spPr>
          <a:xfrm>
            <a:off x="457200" y="660399"/>
            <a:ext cx="11303000" cy="317500"/>
          </a:xfrm>
          <a:prstGeom prst="rect">
            <a:avLst/>
          </a:prstGeom>
          <a:noFill/>
        </p:spPr>
        <p:txBody>
          <a:bodyPr vert="horz" wrap="square" lIns="0" tIns="0" rIns="0" bIns="0" rtlCol="0">
            <a:noAutofit/>
          </a:bodyPr>
          <a:lstStyle/>
          <a:p>
            <a:pPr>
              <a:spcAft>
                <a:spcPts val="1000"/>
              </a:spcAft>
            </a:pPr>
            <a:r>
              <a:rPr lang="en-US" sz="1100" b="1">
                <a:solidFill>
                  <a:srgbClr val="007F83"/>
                </a:solidFill>
                <a:latin typeface="Aptos" panose="020B0004020202020204" pitchFamily="34" charset="0"/>
              </a:rPr>
              <a:t>MEASURED THREE-SEED RESULTS</a:t>
            </a:r>
            <a:endParaRPr lang="en-150" sz="1100" b="1">
              <a:solidFill>
                <a:srgbClr val="007F83"/>
              </a:solidFill>
              <a:latin typeface="Aptos" panose="020B0004020202020204" pitchFamily="34" charset="0"/>
            </a:endParaRPr>
          </a:p>
        </p:txBody>
      </p:sp>
      <p:sp>
        <p:nvSpPr>
          <p:cNvPr id="4" name="TextBox 3">
            <a:extLst>
              <a:ext uri="{FF2B5EF4-FFF2-40B4-BE49-F238E27FC236}">
                <a16:creationId xmlns:a16="http://schemas.microsoft.com/office/drawing/2014/main" id="{42ED8E6E-AF23-6D4A-C00C-51F05C16DD8C}"/>
              </a:ext>
            </a:extLst>
          </p:cNvPr>
          <p:cNvSpPr txBox="1"/>
          <p:nvPr/>
        </p:nvSpPr>
        <p:spPr>
          <a:xfrm>
            <a:off x="457200" y="1117599"/>
            <a:ext cx="11303000" cy="1016000"/>
          </a:xfrm>
          <a:prstGeom prst="rect">
            <a:avLst/>
          </a:prstGeom>
          <a:noFill/>
        </p:spPr>
        <p:txBody>
          <a:bodyPr vert="horz" wrap="square" lIns="0" tIns="0" rIns="0" bIns="0" rtlCol="0">
            <a:noAutofit/>
          </a:bodyPr>
          <a:lstStyle/>
          <a:p>
            <a:pPr>
              <a:spcAft>
                <a:spcPts val="1000"/>
              </a:spcAft>
            </a:pPr>
            <a:r>
              <a:rPr lang="en-US" sz="2900" b="1">
                <a:solidFill>
                  <a:srgbClr val="173347"/>
                </a:solidFill>
                <a:latin typeface="Aptos" panose="020B0004020202020204" pitchFamily="34" charset="0"/>
              </a:rPr>
              <a:t>Compression–quality trade-offs, not a universal winner</a:t>
            </a:r>
            <a:endParaRPr lang="en-150" sz="2900" b="1">
              <a:solidFill>
                <a:srgbClr val="173347"/>
              </a:solidFill>
              <a:latin typeface="Aptos" panose="020B0004020202020204" pitchFamily="34" charset="0"/>
            </a:endParaRPr>
          </a:p>
        </p:txBody>
      </p:sp>
      <p:sp>
        <p:nvSpPr>
          <p:cNvPr id="5" name="TextBox 4">
            <a:extLst>
              <a:ext uri="{FF2B5EF4-FFF2-40B4-BE49-F238E27FC236}">
                <a16:creationId xmlns:a16="http://schemas.microsoft.com/office/drawing/2014/main" id="{719BD5D1-AB48-CFDE-5996-0F4CB0FEC2C0}"/>
              </a:ext>
            </a:extLst>
          </p:cNvPr>
          <p:cNvSpPr txBox="1"/>
          <p:nvPr/>
        </p:nvSpPr>
        <p:spPr>
          <a:xfrm>
            <a:off x="457200" y="2311399"/>
            <a:ext cx="4191000" cy="3784600"/>
          </a:xfrm>
          <a:prstGeom prst="rect">
            <a:avLst/>
          </a:prstGeom>
          <a:noFill/>
        </p:spPr>
        <p:txBody>
          <a:bodyPr vert="horz" wrap="square" lIns="0" tIns="0" rIns="0" bIns="0" rtlCol="0">
            <a:noAutofit/>
          </a:bodyPr>
          <a:lstStyle/>
          <a:p>
            <a:pPr>
              <a:spcAft>
                <a:spcPts val="1000"/>
              </a:spcAft>
            </a:pPr>
            <a:r>
              <a:rPr lang="en-US" sz="1400">
                <a:solidFill>
                  <a:srgbClr val="173347"/>
                </a:solidFill>
                <a:latin typeface="Aptos" panose="020B0004020202020204" pitchFamily="34" charset="0"/>
              </a:rPr>
              <a:t>moderate/random/kl: PPL 32.0 ± 2.4; PIQA 70.5%</a:t>
            </a:r>
          </a:p>
          <a:p>
            <a:pPr>
              <a:spcAft>
                <a:spcPts val="1000"/>
              </a:spcAft>
            </a:pPr>
            <a:r>
              <a:rPr lang="en-US" sz="1400">
                <a:solidFill>
                  <a:srgbClr val="173347"/>
                </a:solidFill>
                <a:latin typeface="Aptos" panose="020B0004020202020204" pitchFamily="34" charset="0"/>
              </a:rPr>
              <a:t>moderate/informed/kl: PPL 38.3 ± 0.2; PIQA 72.3%</a:t>
            </a:r>
          </a:p>
          <a:p>
            <a:pPr>
              <a:spcAft>
                <a:spcPts val="1000"/>
              </a:spcAft>
            </a:pPr>
            <a:r>
              <a:rPr lang="en-US" sz="1400">
                <a:solidFill>
                  <a:srgbClr val="173347"/>
                </a:solidFill>
                <a:latin typeface="Aptos" panose="020B0004020202020204" pitchFamily="34" charset="0"/>
              </a:rPr>
              <a:t>moderate/informed/ce: PPL 28.6 ± 0.0; PIQA 72.0%</a:t>
            </a:r>
          </a:p>
          <a:p>
            <a:pPr>
              <a:spcAft>
                <a:spcPts val="1000"/>
              </a:spcAft>
            </a:pPr>
            <a:r>
              <a:rPr lang="en-US" sz="1400">
                <a:solidFill>
                  <a:srgbClr val="173347"/>
                </a:solidFill>
                <a:latin typeface="Aptos" panose="020B0004020202020204" pitchFamily="34" charset="0"/>
              </a:rPr>
              <a:t>strong/random/kl: PPL 72.7 ± 13.3; PIQA 60.7%</a:t>
            </a:r>
          </a:p>
          <a:p>
            <a:pPr>
              <a:spcAft>
                <a:spcPts val="1000"/>
              </a:spcAft>
            </a:pPr>
            <a:r>
              <a:rPr lang="en-US" sz="1400">
                <a:solidFill>
                  <a:srgbClr val="173347"/>
                </a:solidFill>
                <a:latin typeface="Aptos" panose="020B0004020202020204" pitchFamily="34" charset="0"/>
              </a:rPr>
              <a:t>strong/informed/kl: PPL 69.1 ± 0.8; PIQA 65.8%</a:t>
            </a:r>
          </a:p>
          <a:p>
            <a:pPr>
              <a:spcAft>
                <a:spcPts val="1000"/>
              </a:spcAft>
            </a:pPr>
            <a:r>
              <a:rPr lang="en-US" sz="1400">
                <a:solidFill>
                  <a:srgbClr val="173347"/>
                </a:solidFill>
                <a:latin typeface="Aptos" panose="020B0004020202020204" pitchFamily="34" charset="0"/>
              </a:rPr>
              <a:t>strong/informed/ce: PPL 52.3 ± 0.2; PIQA 65.3%</a:t>
            </a:r>
            <a:endParaRPr lang="en-150" sz="1400">
              <a:solidFill>
                <a:srgbClr val="173347"/>
              </a:solidFill>
              <a:latin typeface="Aptos" panose="020B0004020202020204" pitchFamily="34" charset="0"/>
            </a:endParaRPr>
          </a:p>
        </p:txBody>
      </p:sp>
      <p:pic>
        <p:nvPicPr>
          <p:cNvPr id="7" name="Graphic 6">
            <a:extLst>
              <a:ext uri="{FF2B5EF4-FFF2-40B4-BE49-F238E27FC236}">
                <a16:creationId xmlns:a16="http://schemas.microsoft.com/office/drawing/2014/main" id="{01D7EFFB-B54D-E6A2-7570-62F05F452AB6}"/>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838700" y="2311400"/>
            <a:ext cx="6921500" cy="3390900"/>
          </a:xfrm>
          <a:prstGeom prst="rect">
            <a:avLst/>
          </a:prstGeom>
        </p:spPr>
      </p:pic>
      <p:sp>
        <p:nvSpPr>
          <p:cNvPr id="8" name="TextBox 7">
            <a:extLst>
              <a:ext uri="{FF2B5EF4-FFF2-40B4-BE49-F238E27FC236}">
                <a16:creationId xmlns:a16="http://schemas.microsoft.com/office/drawing/2014/main" id="{3C4E33D1-8E5A-FD0D-D568-C5EB04474A9A}"/>
              </a:ext>
            </a:extLst>
          </p:cNvPr>
          <p:cNvSpPr txBox="1"/>
          <p:nvPr/>
        </p:nvSpPr>
        <p:spPr>
          <a:xfrm>
            <a:off x="4914900" y="5791199"/>
            <a:ext cx="6731000" cy="406400"/>
          </a:xfrm>
          <a:prstGeom prst="rect">
            <a:avLst/>
          </a:prstGeom>
          <a:noFill/>
        </p:spPr>
        <p:txBody>
          <a:bodyPr vert="horz" wrap="square" lIns="0" tIns="0" rIns="0" bIns="0" rtlCol="0">
            <a:noAutofit/>
          </a:bodyPr>
          <a:lstStyle/>
          <a:p>
            <a:pPr>
              <a:spcAft>
                <a:spcPts val="1000"/>
              </a:spcAft>
            </a:pPr>
            <a:r>
              <a:rPr lang="en-US" sz="1000">
                <a:solidFill>
                  <a:srgbClr val="647581"/>
                </a:solidFill>
                <a:latin typeface="Aptos" panose="020B0004020202020204" pitchFamily="34" charset="0"/>
              </a:rPr>
              <a:t>Measured local data. Raw timings and per-seed results are retained.</a:t>
            </a:r>
            <a:endParaRPr lang="en-150" sz="1000">
              <a:solidFill>
                <a:srgbClr val="647581"/>
              </a:solidFill>
              <a:latin typeface="Aptos" panose="020B0004020202020204" pitchFamily="34" charset="0"/>
            </a:endParaRPr>
          </a:p>
        </p:txBody>
      </p:sp>
      <p:sp>
        <p:nvSpPr>
          <p:cNvPr id="9" name="TextBox 8">
            <a:extLst>
              <a:ext uri="{FF2B5EF4-FFF2-40B4-BE49-F238E27FC236}">
                <a16:creationId xmlns:a16="http://schemas.microsoft.com/office/drawing/2014/main" id="{7598914C-8BEB-8269-AB1C-C9658A051212}"/>
              </a:ext>
            </a:extLst>
          </p:cNvPr>
          <p:cNvSpPr txBox="1"/>
          <p:nvPr/>
        </p:nvSpPr>
        <p:spPr>
          <a:xfrm>
            <a:off x="457200" y="6489700"/>
            <a:ext cx="10414000" cy="203200"/>
          </a:xfrm>
          <a:prstGeom prst="rect">
            <a:avLst/>
          </a:prstGeom>
          <a:noFill/>
        </p:spPr>
        <p:txBody>
          <a:bodyPr vert="horz" wrap="square" lIns="0" tIns="0" rIns="0" bIns="0" rtlCol="0">
            <a:noAutofit/>
          </a:bodyPr>
          <a:lstStyle/>
          <a:p>
            <a:pPr>
              <a:spcAft>
                <a:spcPts val="1000"/>
              </a:spcAft>
            </a:pPr>
            <a:r>
              <a:rPr lang="en-US" sz="800">
                <a:solidFill>
                  <a:srgbClr val="647581"/>
                </a:solidFill>
                <a:latin typeface="Aptos" panose="020B0004020202020204" pitchFamily="34" charset="0"/>
              </a:rPr>
              <a:t>MINITRON-INSPIRED  /  BUILT WITH QWEN  /  LOCAL MEASUREMENTS, NOT NVIDIA RESULTS</a:t>
            </a:r>
            <a:endParaRPr lang="en-150" sz="800">
              <a:solidFill>
                <a:srgbClr val="647581"/>
              </a:solidFill>
              <a:latin typeface="Aptos" panose="020B0004020202020204" pitchFamily="34" charset="0"/>
            </a:endParaRPr>
          </a:p>
        </p:txBody>
      </p:sp>
      <p:sp>
        <p:nvSpPr>
          <p:cNvPr id="10" name="TextBox 9">
            <a:extLst>
              <a:ext uri="{FF2B5EF4-FFF2-40B4-BE49-F238E27FC236}">
                <a16:creationId xmlns:a16="http://schemas.microsoft.com/office/drawing/2014/main" id="{1BA58BE2-BCC0-C4EC-EF62-F6D1958D1D2E}"/>
              </a:ext>
            </a:extLst>
          </p:cNvPr>
          <p:cNvSpPr txBox="1"/>
          <p:nvPr/>
        </p:nvSpPr>
        <p:spPr>
          <a:xfrm>
            <a:off x="11290300" y="6426199"/>
            <a:ext cx="482600" cy="279400"/>
          </a:xfrm>
          <a:prstGeom prst="rect">
            <a:avLst/>
          </a:prstGeom>
          <a:noFill/>
        </p:spPr>
        <p:txBody>
          <a:bodyPr vert="horz" wrap="square" lIns="0" tIns="0" rIns="0" bIns="0" rtlCol="0">
            <a:noAutofit/>
          </a:bodyPr>
          <a:lstStyle/>
          <a:p>
            <a:pPr>
              <a:spcAft>
                <a:spcPts val="1000"/>
              </a:spcAft>
            </a:pPr>
            <a:r>
              <a:rPr lang="en-150" sz="1200">
                <a:solidFill>
                  <a:srgbClr val="647581"/>
                </a:solidFill>
                <a:latin typeface="Aptos" panose="020B0004020202020204" pitchFamily="34" charset="0"/>
              </a:rPr>
              <a:t>07</a:t>
            </a:r>
          </a:p>
        </p:txBody>
      </p:sp>
    </p:spTree>
    <p:extLst>
      <p:ext uri="{BB962C8B-B14F-4D97-AF65-F5344CB8AC3E}">
        <p14:creationId xmlns:p14="http://schemas.microsoft.com/office/powerpoint/2010/main" val="1269563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F67A9B-E68D-7609-38F3-B20BCAB7C57F}"/>
              </a:ext>
            </a:extLst>
          </p:cNvPr>
          <p:cNvSpPr/>
          <p:nvPr/>
        </p:nvSpPr>
        <p:spPr>
          <a:xfrm>
            <a:off x="457200" y="444500"/>
            <a:ext cx="533400" cy="63500"/>
          </a:xfrm>
          <a:prstGeom prst="rect">
            <a:avLst/>
          </a:prstGeom>
          <a:solidFill>
            <a:srgbClr val="00A2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3" name="TextBox 2">
            <a:extLst>
              <a:ext uri="{FF2B5EF4-FFF2-40B4-BE49-F238E27FC236}">
                <a16:creationId xmlns:a16="http://schemas.microsoft.com/office/drawing/2014/main" id="{87B3E6B6-A7C8-7894-55FB-05D15FF6C778}"/>
              </a:ext>
            </a:extLst>
          </p:cNvPr>
          <p:cNvSpPr txBox="1"/>
          <p:nvPr/>
        </p:nvSpPr>
        <p:spPr>
          <a:xfrm>
            <a:off x="457200" y="660399"/>
            <a:ext cx="11303000" cy="317500"/>
          </a:xfrm>
          <a:prstGeom prst="rect">
            <a:avLst/>
          </a:prstGeom>
          <a:noFill/>
        </p:spPr>
        <p:txBody>
          <a:bodyPr vert="horz" wrap="square" lIns="0" tIns="0" rIns="0" bIns="0" rtlCol="0">
            <a:noAutofit/>
          </a:bodyPr>
          <a:lstStyle/>
          <a:p>
            <a:pPr>
              <a:spcAft>
                <a:spcPts val="1000"/>
              </a:spcAft>
            </a:pPr>
            <a:r>
              <a:rPr lang="en-US" sz="1100" b="1">
                <a:solidFill>
                  <a:srgbClr val="007F83"/>
                </a:solidFill>
                <a:latin typeface="Aptos" panose="020B0004020202020204" pitchFamily="34" charset="0"/>
              </a:rPr>
              <a:t>CONTROLLED SCIENTIFIC COMPARISON</a:t>
            </a:r>
            <a:endParaRPr lang="en-150" sz="1100" b="1">
              <a:solidFill>
                <a:srgbClr val="007F83"/>
              </a:solidFill>
              <a:latin typeface="Aptos" panose="020B0004020202020204" pitchFamily="34" charset="0"/>
            </a:endParaRPr>
          </a:p>
        </p:txBody>
      </p:sp>
      <p:sp>
        <p:nvSpPr>
          <p:cNvPr id="4" name="TextBox 3">
            <a:extLst>
              <a:ext uri="{FF2B5EF4-FFF2-40B4-BE49-F238E27FC236}">
                <a16:creationId xmlns:a16="http://schemas.microsoft.com/office/drawing/2014/main" id="{B60E332D-7196-81F5-4AA6-E81ED8A9822D}"/>
              </a:ext>
            </a:extLst>
          </p:cNvPr>
          <p:cNvSpPr txBox="1"/>
          <p:nvPr/>
        </p:nvSpPr>
        <p:spPr>
          <a:xfrm>
            <a:off x="457200" y="1117599"/>
            <a:ext cx="11303000" cy="1016000"/>
          </a:xfrm>
          <a:prstGeom prst="rect">
            <a:avLst/>
          </a:prstGeom>
          <a:noFill/>
        </p:spPr>
        <p:txBody>
          <a:bodyPr vert="horz" wrap="square" lIns="0" tIns="0" rIns="0" bIns="0" rtlCol="0">
            <a:noAutofit/>
          </a:bodyPr>
          <a:lstStyle/>
          <a:p>
            <a:pPr>
              <a:spcAft>
                <a:spcPts val="1000"/>
              </a:spcAft>
            </a:pPr>
            <a:r>
              <a:rPr lang="en-US" sz="2900" b="1">
                <a:solidFill>
                  <a:srgbClr val="173347"/>
                </a:solidFill>
                <a:latin typeface="Aptos" panose="020B0004020202020204" pitchFamily="34" charset="0"/>
              </a:rPr>
              <a:t>Recovery and the isolated distillation ablation</a:t>
            </a:r>
            <a:endParaRPr lang="en-150" sz="2900" b="1">
              <a:solidFill>
                <a:srgbClr val="173347"/>
              </a:solidFill>
              <a:latin typeface="Aptos" panose="020B0004020202020204" pitchFamily="34" charset="0"/>
            </a:endParaRPr>
          </a:p>
        </p:txBody>
      </p:sp>
      <p:sp>
        <p:nvSpPr>
          <p:cNvPr id="5" name="TextBox 4">
            <a:extLst>
              <a:ext uri="{FF2B5EF4-FFF2-40B4-BE49-F238E27FC236}">
                <a16:creationId xmlns:a16="http://schemas.microsoft.com/office/drawing/2014/main" id="{0B5AD68D-9EED-4B87-9C94-F7EAB77BFBDD}"/>
              </a:ext>
            </a:extLst>
          </p:cNvPr>
          <p:cNvSpPr txBox="1"/>
          <p:nvPr/>
        </p:nvSpPr>
        <p:spPr>
          <a:xfrm>
            <a:off x="457200" y="2311399"/>
            <a:ext cx="4191000" cy="3784600"/>
          </a:xfrm>
          <a:prstGeom prst="rect">
            <a:avLst/>
          </a:prstGeom>
          <a:noFill/>
        </p:spPr>
        <p:txBody>
          <a:bodyPr vert="horz" wrap="square" lIns="0" tIns="0" rIns="0" bIns="0" rtlCol="0">
            <a:noAutofit/>
          </a:bodyPr>
          <a:lstStyle/>
          <a:p>
            <a:pPr>
              <a:spcAft>
                <a:spcPts val="1000"/>
              </a:spcAft>
            </a:pPr>
            <a:r>
              <a:rPr lang="en-US" sz="1400">
                <a:solidFill>
                  <a:srgbClr val="173347"/>
                </a:solidFill>
                <a:latin typeface="Aptos" panose="020B0004020202020204" pitchFamily="34" charset="0"/>
              </a:rPr>
              <a:t>moderate: informed minus random KL → </a:t>
            </a:r>
            <a:r>
              <a:rPr lang="el-GR" sz="1400">
                <a:solidFill>
                  <a:srgbClr val="173347"/>
                </a:solidFill>
                <a:latin typeface="Aptos" panose="020B0004020202020204" pitchFamily="34" charset="0"/>
              </a:rPr>
              <a:t>Δ</a:t>
            </a:r>
            <a:r>
              <a:rPr lang="en-US" sz="1400">
                <a:solidFill>
                  <a:srgbClr val="173347"/>
                </a:solidFill>
                <a:latin typeface="Aptos" panose="020B0004020202020204" pitchFamily="34" charset="0"/>
              </a:rPr>
              <a:t>NLL +0.181, </a:t>
            </a:r>
            <a:r>
              <a:rPr lang="el-GR" sz="1400">
                <a:solidFill>
                  <a:srgbClr val="173347"/>
                </a:solidFill>
                <a:latin typeface="Aptos" panose="020B0004020202020204" pitchFamily="34" charset="0"/>
              </a:rPr>
              <a:t>Δ</a:t>
            </a:r>
            <a:r>
              <a:rPr lang="en-US" sz="1400">
                <a:solidFill>
                  <a:srgbClr val="173347"/>
                </a:solidFill>
                <a:latin typeface="Aptos" panose="020B0004020202020204" pitchFamily="34" charset="0"/>
              </a:rPr>
              <a:t>PIQA +1.8pp</a:t>
            </a:r>
          </a:p>
          <a:p>
            <a:pPr>
              <a:spcAft>
                <a:spcPts val="1000"/>
              </a:spcAft>
            </a:pPr>
            <a:r>
              <a:rPr lang="en-US" sz="1400">
                <a:solidFill>
                  <a:srgbClr val="173347"/>
                </a:solidFill>
                <a:latin typeface="Aptos" panose="020B0004020202020204" pitchFamily="34" charset="0"/>
              </a:rPr>
              <a:t>moderate: KL minus CE informed → </a:t>
            </a:r>
            <a:r>
              <a:rPr lang="el-GR" sz="1400">
                <a:solidFill>
                  <a:srgbClr val="173347"/>
                </a:solidFill>
                <a:latin typeface="Aptos" panose="020B0004020202020204" pitchFamily="34" charset="0"/>
              </a:rPr>
              <a:t>Δ</a:t>
            </a:r>
            <a:r>
              <a:rPr lang="en-US" sz="1400">
                <a:solidFill>
                  <a:srgbClr val="173347"/>
                </a:solidFill>
                <a:latin typeface="Aptos" panose="020B0004020202020204" pitchFamily="34" charset="0"/>
              </a:rPr>
              <a:t>NLL +0.292, </a:t>
            </a:r>
            <a:r>
              <a:rPr lang="el-GR" sz="1400">
                <a:solidFill>
                  <a:srgbClr val="173347"/>
                </a:solidFill>
                <a:latin typeface="Aptos" panose="020B0004020202020204" pitchFamily="34" charset="0"/>
              </a:rPr>
              <a:t>Δ</a:t>
            </a:r>
            <a:r>
              <a:rPr lang="en-US" sz="1400">
                <a:solidFill>
                  <a:srgbClr val="173347"/>
                </a:solidFill>
                <a:latin typeface="Aptos" panose="020B0004020202020204" pitchFamily="34" charset="0"/>
              </a:rPr>
              <a:t>PIQA +0.3pp</a:t>
            </a:r>
          </a:p>
          <a:p>
            <a:pPr>
              <a:spcAft>
                <a:spcPts val="1000"/>
              </a:spcAft>
            </a:pPr>
            <a:r>
              <a:rPr lang="en-US" sz="1400">
                <a:solidFill>
                  <a:srgbClr val="173347"/>
                </a:solidFill>
                <a:latin typeface="Aptos" panose="020B0004020202020204" pitchFamily="34" charset="0"/>
              </a:rPr>
              <a:t>strong: informed minus random KL → </a:t>
            </a:r>
            <a:r>
              <a:rPr lang="el-GR" sz="1400">
                <a:solidFill>
                  <a:srgbClr val="173347"/>
                </a:solidFill>
                <a:latin typeface="Aptos" panose="020B0004020202020204" pitchFamily="34" charset="0"/>
              </a:rPr>
              <a:t>Δ</a:t>
            </a:r>
            <a:r>
              <a:rPr lang="en-US" sz="1400">
                <a:solidFill>
                  <a:srgbClr val="173347"/>
                </a:solidFill>
                <a:latin typeface="Aptos" panose="020B0004020202020204" pitchFamily="34" charset="0"/>
              </a:rPr>
              <a:t>NLL -0.040, </a:t>
            </a:r>
            <a:r>
              <a:rPr lang="el-GR" sz="1400">
                <a:solidFill>
                  <a:srgbClr val="173347"/>
                </a:solidFill>
                <a:latin typeface="Aptos" panose="020B0004020202020204" pitchFamily="34" charset="0"/>
              </a:rPr>
              <a:t>Δ</a:t>
            </a:r>
            <a:r>
              <a:rPr lang="en-US" sz="1400">
                <a:solidFill>
                  <a:srgbClr val="173347"/>
                </a:solidFill>
                <a:latin typeface="Aptos" panose="020B0004020202020204" pitchFamily="34" charset="0"/>
              </a:rPr>
              <a:t>PIQA +5.2pp</a:t>
            </a:r>
          </a:p>
          <a:p>
            <a:pPr>
              <a:spcAft>
                <a:spcPts val="1000"/>
              </a:spcAft>
            </a:pPr>
            <a:r>
              <a:rPr lang="en-US" sz="1400">
                <a:solidFill>
                  <a:srgbClr val="173347"/>
                </a:solidFill>
                <a:latin typeface="Aptos" panose="020B0004020202020204" pitchFamily="34" charset="0"/>
              </a:rPr>
              <a:t>strong: KL minus CE informed → </a:t>
            </a:r>
            <a:r>
              <a:rPr lang="el-GR" sz="1400">
                <a:solidFill>
                  <a:srgbClr val="173347"/>
                </a:solidFill>
                <a:latin typeface="Aptos" panose="020B0004020202020204" pitchFamily="34" charset="0"/>
              </a:rPr>
              <a:t>Δ</a:t>
            </a:r>
            <a:r>
              <a:rPr lang="en-US" sz="1400">
                <a:solidFill>
                  <a:srgbClr val="173347"/>
                </a:solidFill>
                <a:latin typeface="Aptos" panose="020B0004020202020204" pitchFamily="34" charset="0"/>
              </a:rPr>
              <a:t>NLL +0.278, </a:t>
            </a:r>
            <a:r>
              <a:rPr lang="el-GR" sz="1400">
                <a:solidFill>
                  <a:srgbClr val="173347"/>
                </a:solidFill>
                <a:latin typeface="Aptos" panose="020B0004020202020204" pitchFamily="34" charset="0"/>
              </a:rPr>
              <a:t>Δ</a:t>
            </a:r>
            <a:r>
              <a:rPr lang="en-US" sz="1400">
                <a:solidFill>
                  <a:srgbClr val="173347"/>
                </a:solidFill>
                <a:latin typeface="Aptos" panose="020B0004020202020204" pitchFamily="34" charset="0"/>
              </a:rPr>
              <a:t>PIQA +0.5pp</a:t>
            </a:r>
          </a:p>
          <a:p>
            <a:pPr>
              <a:spcAft>
                <a:spcPts val="1000"/>
              </a:spcAft>
            </a:pPr>
            <a:r>
              <a:rPr lang="en-US" sz="1400">
                <a:solidFill>
                  <a:srgbClr val="173347"/>
                </a:solidFill>
                <a:latin typeface="Aptos" panose="020B0004020202020204" pitchFamily="34" charset="0"/>
              </a:rPr>
              <a:t>Matched CE recovery had lower test perplexity at both compression levels.</a:t>
            </a:r>
            <a:endParaRPr lang="en-150" sz="1400">
              <a:solidFill>
                <a:srgbClr val="173347"/>
              </a:solidFill>
              <a:latin typeface="Aptos" panose="020B0004020202020204" pitchFamily="34" charset="0"/>
            </a:endParaRPr>
          </a:p>
        </p:txBody>
      </p:sp>
      <p:pic>
        <p:nvPicPr>
          <p:cNvPr id="7" name="Graphic 6">
            <a:extLst>
              <a:ext uri="{FF2B5EF4-FFF2-40B4-BE49-F238E27FC236}">
                <a16:creationId xmlns:a16="http://schemas.microsoft.com/office/drawing/2014/main" id="{73B49655-0D99-B30F-2CF3-0FABFBDBD287}"/>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838700" y="2311400"/>
            <a:ext cx="6921500" cy="3390900"/>
          </a:xfrm>
          <a:prstGeom prst="rect">
            <a:avLst/>
          </a:prstGeom>
        </p:spPr>
      </p:pic>
      <p:sp>
        <p:nvSpPr>
          <p:cNvPr id="8" name="TextBox 7">
            <a:extLst>
              <a:ext uri="{FF2B5EF4-FFF2-40B4-BE49-F238E27FC236}">
                <a16:creationId xmlns:a16="http://schemas.microsoft.com/office/drawing/2014/main" id="{66B5803D-B8BF-7BE4-7ECB-FF588685E74F}"/>
              </a:ext>
            </a:extLst>
          </p:cNvPr>
          <p:cNvSpPr txBox="1"/>
          <p:nvPr/>
        </p:nvSpPr>
        <p:spPr>
          <a:xfrm>
            <a:off x="4914900" y="5791199"/>
            <a:ext cx="6731000" cy="406400"/>
          </a:xfrm>
          <a:prstGeom prst="rect">
            <a:avLst/>
          </a:prstGeom>
          <a:noFill/>
        </p:spPr>
        <p:txBody>
          <a:bodyPr vert="horz" wrap="square" lIns="0" tIns="0" rIns="0" bIns="0" rtlCol="0">
            <a:noAutofit/>
          </a:bodyPr>
          <a:lstStyle/>
          <a:p>
            <a:pPr>
              <a:spcAft>
                <a:spcPts val="1000"/>
              </a:spcAft>
            </a:pPr>
            <a:r>
              <a:rPr lang="en-US" sz="1000">
                <a:solidFill>
                  <a:srgbClr val="647581"/>
                </a:solidFill>
                <a:latin typeface="Aptos" panose="020B0004020202020204" pitchFamily="34" charset="0"/>
              </a:rPr>
              <a:t>Measured local data. Raw timings and per-seed results are retained.</a:t>
            </a:r>
            <a:endParaRPr lang="en-150" sz="1000">
              <a:solidFill>
                <a:srgbClr val="647581"/>
              </a:solidFill>
              <a:latin typeface="Aptos" panose="020B0004020202020204" pitchFamily="34" charset="0"/>
            </a:endParaRPr>
          </a:p>
        </p:txBody>
      </p:sp>
      <p:sp>
        <p:nvSpPr>
          <p:cNvPr id="9" name="TextBox 8">
            <a:extLst>
              <a:ext uri="{FF2B5EF4-FFF2-40B4-BE49-F238E27FC236}">
                <a16:creationId xmlns:a16="http://schemas.microsoft.com/office/drawing/2014/main" id="{99C13883-6A47-DE96-C2B5-9E91BF735B5E}"/>
              </a:ext>
            </a:extLst>
          </p:cNvPr>
          <p:cNvSpPr txBox="1"/>
          <p:nvPr/>
        </p:nvSpPr>
        <p:spPr>
          <a:xfrm>
            <a:off x="457200" y="6489700"/>
            <a:ext cx="10414000" cy="203200"/>
          </a:xfrm>
          <a:prstGeom prst="rect">
            <a:avLst/>
          </a:prstGeom>
          <a:noFill/>
        </p:spPr>
        <p:txBody>
          <a:bodyPr vert="horz" wrap="square" lIns="0" tIns="0" rIns="0" bIns="0" rtlCol="0">
            <a:noAutofit/>
          </a:bodyPr>
          <a:lstStyle/>
          <a:p>
            <a:pPr>
              <a:spcAft>
                <a:spcPts val="1000"/>
              </a:spcAft>
            </a:pPr>
            <a:r>
              <a:rPr lang="en-US" sz="800">
                <a:solidFill>
                  <a:srgbClr val="647581"/>
                </a:solidFill>
                <a:latin typeface="Aptos" panose="020B0004020202020204" pitchFamily="34" charset="0"/>
              </a:rPr>
              <a:t>MINITRON-INSPIRED  /  BUILT WITH QWEN  /  LOCAL MEASUREMENTS, NOT NVIDIA RESULTS</a:t>
            </a:r>
            <a:endParaRPr lang="en-150" sz="800">
              <a:solidFill>
                <a:srgbClr val="647581"/>
              </a:solidFill>
              <a:latin typeface="Aptos" panose="020B0004020202020204" pitchFamily="34" charset="0"/>
            </a:endParaRPr>
          </a:p>
        </p:txBody>
      </p:sp>
      <p:sp>
        <p:nvSpPr>
          <p:cNvPr id="10" name="TextBox 9">
            <a:extLst>
              <a:ext uri="{FF2B5EF4-FFF2-40B4-BE49-F238E27FC236}">
                <a16:creationId xmlns:a16="http://schemas.microsoft.com/office/drawing/2014/main" id="{8DA4F0DB-DE13-6A47-10D0-8764AB0FEE3A}"/>
              </a:ext>
            </a:extLst>
          </p:cNvPr>
          <p:cNvSpPr txBox="1"/>
          <p:nvPr/>
        </p:nvSpPr>
        <p:spPr>
          <a:xfrm>
            <a:off x="11290300" y="6426199"/>
            <a:ext cx="482600" cy="279400"/>
          </a:xfrm>
          <a:prstGeom prst="rect">
            <a:avLst/>
          </a:prstGeom>
          <a:noFill/>
        </p:spPr>
        <p:txBody>
          <a:bodyPr vert="horz" wrap="square" lIns="0" tIns="0" rIns="0" bIns="0" rtlCol="0">
            <a:noAutofit/>
          </a:bodyPr>
          <a:lstStyle/>
          <a:p>
            <a:pPr>
              <a:spcAft>
                <a:spcPts val="1000"/>
              </a:spcAft>
            </a:pPr>
            <a:r>
              <a:rPr lang="en-150" sz="1200">
                <a:solidFill>
                  <a:srgbClr val="647581"/>
                </a:solidFill>
                <a:latin typeface="Aptos" panose="020B0004020202020204" pitchFamily="34" charset="0"/>
              </a:rPr>
              <a:t>08</a:t>
            </a:r>
          </a:p>
        </p:txBody>
      </p:sp>
    </p:spTree>
    <p:extLst>
      <p:ext uri="{BB962C8B-B14F-4D97-AF65-F5344CB8AC3E}">
        <p14:creationId xmlns:p14="http://schemas.microsoft.com/office/powerpoint/2010/main" val="2745055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BE9C0D-D422-E6CE-D052-1190B6F2AB11}"/>
              </a:ext>
            </a:extLst>
          </p:cNvPr>
          <p:cNvSpPr/>
          <p:nvPr/>
        </p:nvSpPr>
        <p:spPr>
          <a:xfrm>
            <a:off x="457200" y="444500"/>
            <a:ext cx="533400" cy="63500"/>
          </a:xfrm>
          <a:prstGeom prst="rect">
            <a:avLst/>
          </a:prstGeom>
          <a:solidFill>
            <a:srgbClr val="00A2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3" name="TextBox 2">
            <a:extLst>
              <a:ext uri="{FF2B5EF4-FFF2-40B4-BE49-F238E27FC236}">
                <a16:creationId xmlns:a16="http://schemas.microsoft.com/office/drawing/2014/main" id="{1575BF68-5842-C543-4D01-5C9F6820BA43}"/>
              </a:ext>
            </a:extLst>
          </p:cNvPr>
          <p:cNvSpPr txBox="1"/>
          <p:nvPr/>
        </p:nvSpPr>
        <p:spPr>
          <a:xfrm>
            <a:off x="457200" y="660399"/>
            <a:ext cx="11303000" cy="317500"/>
          </a:xfrm>
          <a:prstGeom prst="rect">
            <a:avLst/>
          </a:prstGeom>
          <a:noFill/>
        </p:spPr>
        <p:txBody>
          <a:bodyPr vert="horz" wrap="square" lIns="0" tIns="0" rIns="0" bIns="0" rtlCol="0">
            <a:noAutofit/>
          </a:bodyPr>
          <a:lstStyle/>
          <a:p>
            <a:pPr>
              <a:spcAft>
                <a:spcPts val="1000"/>
              </a:spcAft>
            </a:pPr>
            <a:r>
              <a:rPr lang="en-US" sz="1100" b="1">
                <a:solidFill>
                  <a:srgbClr val="007F83"/>
                </a:solidFill>
                <a:latin typeface="Aptos" panose="020B0004020202020204" pitchFamily="34" charset="0"/>
              </a:rPr>
              <a:t>SCIENTIFIC QUALITY + EXECUTION AUDIT</a:t>
            </a:r>
            <a:endParaRPr lang="en-150" sz="1100" b="1">
              <a:solidFill>
                <a:srgbClr val="007F83"/>
              </a:solidFill>
              <a:latin typeface="Aptos" panose="020B0004020202020204" pitchFamily="34" charset="0"/>
            </a:endParaRPr>
          </a:p>
        </p:txBody>
      </p:sp>
      <p:sp>
        <p:nvSpPr>
          <p:cNvPr id="4" name="TextBox 3">
            <a:extLst>
              <a:ext uri="{FF2B5EF4-FFF2-40B4-BE49-F238E27FC236}">
                <a16:creationId xmlns:a16="http://schemas.microsoft.com/office/drawing/2014/main" id="{1DB4E985-909E-C075-7FE1-10FA6AEAAEF0}"/>
              </a:ext>
            </a:extLst>
          </p:cNvPr>
          <p:cNvSpPr txBox="1"/>
          <p:nvPr/>
        </p:nvSpPr>
        <p:spPr>
          <a:xfrm>
            <a:off x="457200" y="1117599"/>
            <a:ext cx="11303000" cy="1016000"/>
          </a:xfrm>
          <a:prstGeom prst="rect">
            <a:avLst/>
          </a:prstGeom>
          <a:noFill/>
        </p:spPr>
        <p:txBody>
          <a:bodyPr vert="horz" wrap="square" lIns="0" tIns="0" rIns="0" bIns="0" rtlCol="0">
            <a:noAutofit/>
          </a:bodyPr>
          <a:lstStyle/>
          <a:p>
            <a:pPr>
              <a:spcAft>
                <a:spcPts val="1000"/>
              </a:spcAft>
            </a:pPr>
            <a:r>
              <a:rPr lang="en-US" sz="2900" b="1">
                <a:solidFill>
                  <a:srgbClr val="173347"/>
                </a:solidFill>
                <a:latin typeface="Aptos" panose="020B0004020202020204" pitchFamily="34" charset="0"/>
              </a:rPr>
              <a:t>CPU and CUDA both execute—not just a device flag</a:t>
            </a:r>
            <a:endParaRPr lang="en-150" sz="2900" b="1">
              <a:solidFill>
                <a:srgbClr val="173347"/>
              </a:solidFill>
              <a:latin typeface="Aptos" panose="020B0004020202020204" pitchFamily="34" charset="0"/>
            </a:endParaRPr>
          </a:p>
        </p:txBody>
      </p:sp>
      <p:sp>
        <p:nvSpPr>
          <p:cNvPr id="5" name="TextBox 4">
            <a:extLst>
              <a:ext uri="{FF2B5EF4-FFF2-40B4-BE49-F238E27FC236}">
                <a16:creationId xmlns:a16="http://schemas.microsoft.com/office/drawing/2014/main" id="{ED2FE091-A2B8-B550-DEA7-62404057412C}"/>
              </a:ext>
            </a:extLst>
          </p:cNvPr>
          <p:cNvSpPr txBox="1"/>
          <p:nvPr/>
        </p:nvSpPr>
        <p:spPr>
          <a:xfrm>
            <a:off x="457200" y="2311399"/>
            <a:ext cx="4191000" cy="3784600"/>
          </a:xfrm>
          <a:prstGeom prst="rect">
            <a:avLst/>
          </a:prstGeom>
          <a:noFill/>
        </p:spPr>
        <p:txBody>
          <a:bodyPr vert="horz" wrap="square" lIns="0" tIns="0" rIns="0" bIns="0" rtlCol="0">
            <a:noAutofit/>
          </a:bodyPr>
          <a:lstStyle/>
          <a:p>
            <a:pPr>
              <a:spcAft>
                <a:spcPts val="1000"/>
              </a:spcAft>
            </a:pPr>
            <a:r>
              <a:rPr lang="en-US" sz="1600">
                <a:solidFill>
                  <a:srgbClr val="173347"/>
                </a:solidFill>
                <a:latin typeface="Aptos" panose="020B0004020202020204" pitchFamily="34" charset="0"/>
              </a:rPr>
              <a:t>Complete tiny-transformer train → prune → distill on both devices.</a:t>
            </a:r>
          </a:p>
          <a:p>
            <a:pPr>
              <a:spcAft>
                <a:spcPts val="1000"/>
              </a:spcAft>
            </a:pPr>
            <a:r>
              <a:rPr lang="en-US" sz="1600">
                <a:solidFill>
                  <a:srgbClr val="173347"/>
                </a:solidFill>
                <a:latin typeface="Aptos" panose="020B0004020202020204" pitchFamily="34" charset="0"/>
              </a:rPr>
              <a:t>Three-seed FP32 reference; same-weight device benchmark.</a:t>
            </a:r>
          </a:p>
          <a:p>
            <a:pPr>
              <a:spcAft>
                <a:spcPts val="1000"/>
              </a:spcAft>
            </a:pPr>
            <a:r>
              <a:rPr lang="en-US" sz="1600">
                <a:solidFill>
                  <a:srgbClr val="173347"/>
                </a:solidFill>
                <a:latin typeface="Aptos" panose="020B0004020202020204" pitchFamily="34" charset="0"/>
              </a:rPr>
              <a:t>Real teacher and two students: matched quality inputs and PIQA scoring.</a:t>
            </a:r>
          </a:p>
          <a:p>
            <a:pPr>
              <a:spcAft>
                <a:spcPts val="1000"/>
              </a:spcAft>
            </a:pPr>
            <a:r>
              <a:rPr lang="en-US" sz="1600">
                <a:solidFill>
                  <a:srgbClr val="173347"/>
                </a:solidFill>
                <a:latin typeface="Aptos" panose="020B0004020202020204" pitchFamily="34" charset="0"/>
              </a:rPr>
              <a:t>CPU FP32 versus CUDA FP16 is labelled device + precision.</a:t>
            </a:r>
            <a:endParaRPr lang="en-150" sz="1600">
              <a:solidFill>
                <a:srgbClr val="173347"/>
              </a:solidFill>
              <a:latin typeface="Aptos" panose="020B0004020202020204" pitchFamily="34" charset="0"/>
            </a:endParaRPr>
          </a:p>
        </p:txBody>
      </p:sp>
      <p:pic>
        <p:nvPicPr>
          <p:cNvPr id="7" name="Graphic 6">
            <a:extLst>
              <a:ext uri="{FF2B5EF4-FFF2-40B4-BE49-F238E27FC236}">
                <a16:creationId xmlns:a16="http://schemas.microsoft.com/office/drawing/2014/main" id="{0B0ED2A2-29F0-AB3B-F640-AB17BC2CF108}"/>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838700" y="2311400"/>
            <a:ext cx="6921500" cy="3390900"/>
          </a:xfrm>
          <a:prstGeom prst="rect">
            <a:avLst/>
          </a:prstGeom>
        </p:spPr>
      </p:pic>
      <p:sp>
        <p:nvSpPr>
          <p:cNvPr id="8" name="TextBox 7">
            <a:extLst>
              <a:ext uri="{FF2B5EF4-FFF2-40B4-BE49-F238E27FC236}">
                <a16:creationId xmlns:a16="http://schemas.microsoft.com/office/drawing/2014/main" id="{0C988A98-01EF-9F9E-9CC7-ECAF2B3A58FB}"/>
              </a:ext>
            </a:extLst>
          </p:cNvPr>
          <p:cNvSpPr txBox="1"/>
          <p:nvPr/>
        </p:nvSpPr>
        <p:spPr>
          <a:xfrm>
            <a:off x="4914900" y="5791199"/>
            <a:ext cx="6731000" cy="406400"/>
          </a:xfrm>
          <a:prstGeom prst="rect">
            <a:avLst/>
          </a:prstGeom>
          <a:noFill/>
        </p:spPr>
        <p:txBody>
          <a:bodyPr vert="horz" wrap="square" lIns="0" tIns="0" rIns="0" bIns="0" rtlCol="0">
            <a:noAutofit/>
          </a:bodyPr>
          <a:lstStyle/>
          <a:p>
            <a:pPr>
              <a:spcAft>
                <a:spcPts val="1000"/>
              </a:spcAft>
            </a:pPr>
            <a:r>
              <a:rPr lang="en-US" sz="1000">
                <a:solidFill>
                  <a:srgbClr val="647581"/>
                </a:solidFill>
                <a:latin typeface="Aptos" panose="020B0004020202020204" pitchFamily="34" charset="0"/>
              </a:rPr>
              <a:t>Measured local data. Raw timings and per-seed results are retained.</a:t>
            </a:r>
            <a:endParaRPr lang="en-150" sz="1000">
              <a:solidFill>
                <a:srgbClr val="647581"/>
              </a:solidFill>
              <a:latin typeface="Aptos" panose="020B0004020202020204" pitchFamily="34" charset="0"/>
            </a:endParaRPr>
          </a:p>
        </p:txBody>
      </p:sp>
      <p:sp>
        <p:nvSpPr>
          <p:cNvPr id="9" name="TextBox 8">
            <a:extLst>
              <a:ext uri="{FF2B5EF4-FFF2-40B4-BE49-F238E27FC236}">
                <a16:creationId xmlns:a16="http://schemas.microsoft.com/office/drawing/2014/main" id="{60E56053-2BAD-DB52-B40F-584A275212B7}"/>
              </a:ext>
            </a:extLst>
          </p:cNvPr>
          <p:cNvSpPr txBox="1"/>
          <p:nvPr/>
        </p:nvSpPr>
        <p:spPr>
          <a:xfrm>
            <a:off x="457200" y="6489700"/>
            <a:ext cx="10414000" cy="203200"/>
          </a:xfrm>
          <a:prstGeom prst="rect">
            <a:avLst/>
          </a:prstGeom>
          <a:noFill/>
        </p:spPr>
        <p:txBody>
          <a:bodyPr vert="horz" wrap="square" lIns="0" tIns="0" rIns="0" bIns="0" rtlCol="0">
            <a:noAutofit/>
          </a:bodyPr>
          <a:lstStyle/>
          <a:p>
            <a:pPr>
              <a:spcAft>
                <a:spcPts val="1000"/>
              </a:spcAft>
            </a:pPr>
            <a:r>
              <a:rPr lang="en-US" sz="800">
                <a:solidFill>
                  <a:srgbClr val="647581"/>
                </a:solidFill>
                <a:latin typeface="Aptos" panose="020B0004020202020204" pitchFamily="34" charset="0"/>
              </a:rPr>
              <a:t>MINITRON-INSPIRED  /  BUILT WITH QWEN  /  LOCAL MEASUREMENTS, NOT NVIDIA RESULTS</a:t>
            </a:r>
            <a:endParaRPr lang="en-150" sz="800">
              <a:solidFill>
                <a:srgbClr val="647581"/>
              </a:solidFill>
              <a:latin typeface="Aptos" panose="020B0004020202020204" pitchFamily="34" charset="0"/>
            </a:endParaRPr>
          </a:p>
        </p:txBody>
      </p:sp>
      <p:sp>
        <p:nvSpPr>
          <p:cNvPr id="10" name="TextBox 9">
            <a:extLst>
              <a:ext uri="{FF2B5EF4-FFF2-40B4-BE49-F238E27FC236}">
                <a16:creationId xmlns:a16="http://schemas.microsoft.com/office/drawing/2014/main" id="{A4AC434F-2D85-B068-91AD-D18B26F16180}"/>
              </a:ext>
            </a:extLst>
          </p:cNvPr>
          <p:cNvSpPr txBox="1"/>
          <p:nvPr/>
        </p:nvSpPr>
        <p:spPr>
          <a:xfrm>
            <a:off x="11290300" y="6426199"/>
            <a:ext cx="482600" cy="279400"/>
          </a:xfrm>
          <a:prstGeom prst="rect">
            <a:avLst/>
          </a:prstGeom>
          <a:noFill/>
        </p:spPr>
        <p:txBody>
          <a:bodyPr vert="horz" wrap="square" lIns="0" tIns="0" rIns="0" bIns="0" rtlCol="0">
            <a:noAutofit/>
          </a:bodyPr>
          <a:lstStyle/>
          <a:p>
            <a:pPr>
              <a:spcAft>
                <a:spcPts val="1000"/>
              </a:spcAft>
            </a:pPr>
            <a:r>
              <a:rPr lang="en-150" sz="1200">
                <a:solidFill>
                  <a:srgbClr val="647581"/>
                </a:solidFill>
                <a:latin typeface="Aptos" panose="020B0004020202020204" pitchFamily="34" charset="0"/>
              </a:rPr>
              <a:t>09</a:t>
            </a:r>
          </a:p>
        </p:txBody>
      </p:sp>
    </p:spTree>
    <p:extLst>
      <p:ext uri="{BB962C8B-B14F-4D97-AF65-F5344CB8AC3E}">
        <p14:creationId xmlns:p14="http://schemas.microsoft.com/office/powerpoint/2010/main" val="66854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DDDD02-D965-F734-A136-73BAAE227B92}"/>
              </a:ext>
            </a:extLst>
          </p:cNvPr>
          <p:cNvSpPr/>
          <p:nvPr/>
        </p:nvSpPr>
        <p:spPr>
          <a:xfrm>
            <a:off x="457200" y="444500"/>
            <a:ext cx="533400" cy="63500"/>
          </a:xfrm>
          <a:prstGeom prst="rect">
            <a:avLst/>
          </a:prstGeom>
          <a:solidFill>
            <a:srgbClr val="00A2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3" name="TextBox 2">
            <a:extLst>
              <a:ext uri="{FF2B5EF4-FFF2-40B4-BE49-F238E27FC236}">
                <a16:creationId xmlns:a16="http://schemas.microsoft.com/office/drawing/2014/main" id="{5EBF69E0-D726-14E1-600A-4C9A5B2205AF}"/>
              </a:ext>
            </a:extLst>
          </p:cNvPr>
          <p:cNvSpPr txBox="1"/>
          <p:nvPr/>
        </p:nvSpPr>
        <p:spPr>
          <a:xfrm>
            <a:off x="457200" y="660399"/>
            <a:ext cx="11303000" cy="317500"/>
          </a:xfrm>
          <a:prstGeom prst="rect">
            <a:avLst/>
          </a:prstGeom>
          <a:noFill/>
        </p:spPr>
        <p:txBody>
          <a:bodyPr vert="horz" wrap="square" lIns="0" tIns="0" rIns="0" bIns="0" rtlCol="0">
            <a:noAutofit/>
          </a:bodyPr>
          <a:lstStyle/>
          <a:p>
            <a:pPr>
              <a:spcAft>
                <a:spcPts val="1000"/>
              </a:spcAft>
            </a:pPr>
            <a:r>
              <a:rPr lang="en-US" sz="1100" b="1">
                <a:solidFill>
                  <a:srgbClr val="007F83"/>
                </a:solidFill>
                <a:latin typeface="Aptos" panose="020B0004020202020204" pitchFamily="34" charset="0"/>
              </a:rPr>
              <a:t>MEASURED WORKLOAD SCALING</a:t>
            </a:r>
            <a:endParaRPr lang="en-150" sz="1100" b="1">
              <a:solidFill>
                <a:srgbClr val="007F83"/>
              </a:solidFill>
              <a:latin typeface="Aptos" panose="020B0004020202020204" pitchFamily="34" charset="0"/>
            </a:endParaRPr>
          </a:p>
        </p:txBody>
      </p:sp>
      <p:sp>
        <p:nvSpPr>
          <p:cNvPr id="4" name="TextBox 3">
            <a:extLst>
              <a:ext uri="{FF2B5EF4-FFF2-40B4-BE49-F238E27FC236}">
                <a16:creationId xmlns:a16="http://schemas.microsoft.com/office/drawing/2014/main" id="{D209DC9F-AF8E-D077-65E3-9A56C192FFD3}"/>
              </a:ext>
            </a:extLst>
          </p:cNvPr>
          <p:cNvSpPr txBox="1"/>
          <p:nvPr/>
        </p:nvSpPr>
        <p:spPr>
          <a:xfrm>
            <a:off x="457200" y="1117599"/>
            <a:ext cx="11303000" cy="1016000"/>
          </a:xfrm>
          <a:prstGeom prst="rect">
            <a:avLst/>
          </a:prstGeom>
          <a:noFill/>
        </p:spPr>
        <p:txBody>
          <a:bodyPr vert="horz" wrap="square" lIns="0" tIns="0" rIns="0" bIns="0" rtlCol="0">
            <a:noAutofit/>
          </a:bodyPr>
          <a:lstStyle/>
          <a:p>
            <a:pPr>
              <a:spcAft>
                <a:spcPts val="1000"/>
              </a:spcAft>
            </a:pPr>
            <a:r>
              <a:rPr lang="en-US" sz="2900" b="1">
                <a:solidFill>
                  <a:srgbClr val="173347"/>
                </a:solidFill>
                <a:latin typeface="Aptos" panose="020B0004020202020204" pitchFamily="34" charset="0"/>
              </a:rPr>
              <a:t>Where is GPU deployment practically beneficial?</a:t>
            </a:r>
            <a:endParaRPr lang="en-150" sz="2900" b="1">
              <a:solidFill>
                <a:srgbClr val="173347"/>
              </a:solidFill>
              <a:latin typeface="Aptos" panose="020B0004020202020204" pitchFamily="34" charset="0"/>
            </a:endParaRPr>
          </a:p>
        </p:txBody>
      </p:sp>
      <p:sp>
        <p:nvSpPr>
          <p:cNvPr id="5" name="TextBox 4">
            <a:extLst>
              <a:ext uri="{FF2B5EF4-FFF2-40B4-BE49-F238E27FC236}">
                <a16:creationId xmlns:a16="http://schemas.microsoft.com/office/drawing/2014/main" id="{54D5E2C5-F75F-02A6-4B8C-17077848DDC5}"/>
              </a:ext>
            </a:extLst>
          </p:cNvPr>
          <p:cNvSpPr txBox="1"/>
          <p:nvPr/>
        </p:nvSpPr>
        <p:spPr>
          <a:xfrm>
            <a:off x="457200" y="2311399"/>
            <a:ext cx="4191000" cy="3784600"/>
          </a:xfrm>
          <a:prstGeom prst="rect">
            <a:avLst/>
          </a:prstGeom>
          <a:noFill/>
        </p:spPr>
        <p:txBody>
          <a:bodyPr vert="horz" wrap="square" lIns="0" tIns="0" rIns="0" bIns="0" rtlCol="0">
            <a:noAutofit/>
          </a:bodyPr>
          <a:lstStyle/>
          <a:p>
            <a:pPr>
              <a:spcAft>
                <a:spcPts val="1000"/>
              </a:spcAft>
            </a:pPr>
            <a:r>
              <a:rPr lang="en-US" sz="1400">
                <a:solidFill>
                  <a:srgbClr val="173347"/>
                </a:solidFill>
                <a:latin typeface="Aptos" panose="020B0004020202020204" pitchFamily="34" charset="0"/>
              </a:rPr>
              <a:t>teacher: 32→16: 10.4×, 128→16: 12.6×, 512→16: 22.1×</a:t>
            </a:r>
          </a:p>
          <a:p>
            <a:pPr>
              <a:spcAft>
                <a:spcPts val="1000"/>
              </a:spcAft>
            </a:pPr>
            <a:r>
              <a:rPr lang="en-US" sz="1400">
                <a:solidFill>
                  <a:srgbClr val="173347"/>
                </a:solidFill>
                <a:latin typeface="Aptos" panose="020B0004020202020204" pitchFamily="34" charset="0"/>
              </a:rPr>
              <a:t>moderate: 32→16: 9.4×, 128→16: 11.1×, 512→16: 21.2×</a:t>
            </a:r>
          </a:p>
          <a:p>
            <a:pPr>
              <a:spcAft>
                <a:spcPts val="1000"/>
              </a:spcAft>
            </a:pPr>
            <a:r>
              <a:rPr lang="en-US" sz="1400">
                <a:solidFill>
                  <a:srgbClr val="173347"/>
                </a:solidFill>
                <a:latin typeface="Aptos" panose="020B0004020202020204" pitchFamily="34" charset="0"/>
              </a:rPr>
              <a:t>strong: 32→16: 8.0×, 128→16: 10.0×, 512→16: 18.8×</a:t>
            </a:r>
          </a:p>
          <a:p>
            <a:pPr>
              <a:spcAft>
                <a:spcPts val="1000"/>
              </a:spcAft>
            </a:pPr>
            <a:r>
              <a:rPr lang="en-US" sz="1400">
                <a:solidFill>
                  <a:srgbClr val="173347"/>
                </a:solidFill>
                <a:latin typeface="Aptos" panose="020B0004020202020204" pitchFamily="34" charset="0"/>
              </a:rPr>
              <a:t>2 warmups · 5 timings · medians + IQR · explicit placement</a:t>
            </a:r>
          </a:p>
          <a:p>
            <a:pPr>
              <a:spcAft>
                <a:spcPts val="1000"/>
              </a:spcAft>
            </a:pPr>
            <a:r>
              <a:rPr lang="en-US" sz="1400">
                <a:solidFill>
                  <a:srgbClr val="173347"/>
                </a:solidFill>
                <a:latin typeface="Aptos" panose="020B0004020202020204" pitchFamily="34" charset="0"/>
              </a:rPr>
              <a:t>Loading, preprocessing, transfer and model execution are separate.</a:t>
            </a:r>
            <a:endParaRPr lang="en-150" sz="1400">
              <a:solidFill>
                <a:srgbClr val="173347"/>
              </a:solidFill>
              <a:latin typeface="Aptos" panose="020B0004020202020204" pitchFamily="34" charset="0"/>
            </a:endParaRPr>
          </a:p>
        </p:txBody>
      </p:sp>
      <p:pic>
        <p:nvPicPr>
          <p:cNvPr id="7" name="Graphic 6">
            <a:extLst>
              <a:ext uri="{FF2B5EF4-FFF2-40B4-BE49-F238E27FC236}">
                <a16:creationId xmlns:a16="http://schemas.microsoft.com/office/drawing/2014/main" id="{D2ABDAFC-86B8-7B98-3D7A-BE57962B1B9B}"/>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838700" y="2311400"/>
            <a:ext cx="6921500" cy="3390900"/>
          </a:xfrm>
          <a:prstGeom prst="rect">
            <a:avLst/>
          </a:prstGeom>
        </p:spPr>
      </p:pic>
      <p:sp>
        <p:nvSpPr>
          <p:cNvPr id="8" name="TextBox 7">
            <a:extLst>
              <a:ext uri="{FF2B5EF4-FFF2-40B4-BE49-F238E27FC236}">
                <a16:creationId xmlns:a16="http://schemas.microsoft.com/office/drawing/2014/main" id="{D5143445-5550-AACF-D490-FA8E5880B3C9}"/>
              </a:ext>
            </a:extLst>
          </p:cNvPr>
          <p:cNvSpPr txBox="1"/>
          <p:nvPr/>
        </p:nvSpPr>
        <p:spPr>
          <a:xfrm>
            <a:off x="4914900" y="5791199"/>
            <a:ext cx="6731000" cy="406400"/>
          </a:xfrm>
          <a:prstGeom prst="rect">
            <a:avLst/>
          </a:prstGeom>
          <a:noFill/>
        </p:spPr>
        <p:txBody>
          <a:bodyPr vert="horz" wrap="square" lIns="0" tIns="0" rIns="0" bIns="0" rtlCol="0">
            <a:noAutofit/>
          </a:bodyPr>
          <a:lstStyle/>
          <a:p>
            <a:pPr>
              <a:spcAft>
                <a:spcPts val="1000"/>
              </a:spcAft>
            </a:pPr>
            <a:r>
              <a:rPr lang="en-US" sz="1000">
                <a:solidFill>
                  <a:srgbClr val="647581"/>
                </a:solidFill>
                <a:latin typeface="Aptos" panose="020B0004020202020204" pitchFamily="34" charset="0"/>
              </a:rPr>
              <a:t>Measured local data. Raw timings and per-seed results are retained.</a:t>
            </a:r>
            <a:endParaRPr lang="en-150" sz="1000">
              <a:solidFill>
                <a:srgbClr val="647581"/>
              </a:solidFill>
              <a:latin typeface="Aptos" panose="020B0004020202020204" pitchFamily="34" charset="0"/>
            </a:endParaRPr>
          </a:p>
        </p:txBody>
      </p:sp>
      <p:sp>
        <p:nvSpPr>
          <p:cNvPr id="9" name="TextBox 8">
            <a:extLst>
              <a:ext uri="{FF2B5EF4-FFF2-40B4-BE49-F238E27FC236}">
                <a16:creationId xmlns:a16="http://schemas.microsoft.com/office/drawing/2014/main" id="{452D0153-2AE2-E6C2-D8CB-CE51238F3795}"/>
              </a:ext>
            </a:extLst>
          </p:cNvPr>
          <p:cNvSpPr txBox="1"/>
          <p:nvPr/>
        </p:nvSpPr>
        <p:spPr>
          <a:xfrm>
            <a:off x="457200" y="6489700"/>
            <a:ext cx="10414000" cy="203200"/>
          </a:xfrm>
          <a:prstGeom prst="rect">
            <a:avLst/>
          </a:prstGeom>
          <a:noFill/>
        </p:spPr>
        <p:txBody>
          <a:bodyPr vert="horz" wrap="square" lIns="0" tIns="0" rIns="0" bIns="0" rtlCol="0">
            <a:noAutofit/>
          </a:bodyPr>
          <a:lstStyle/>
          <a:p>
            <a:pPr>
              <a:spcAft>
                <a:spcPts val="1000"/>
              </a:spcAft>
            </a:pPr>
            <a:r>
              <a:rPr lang="en-US" sz="800">
                <a:solidFill>
                  <a:srgbClr val="647581"/>
                </a:solidFill>
                <a:latin typeface="Aptos" panose="020B0004020202020204" pitchFamily="34" charset="0"/>
              </a:rPr>
              <a:t>MINITRON-INSPIRED  /  BUILT WITH QWEN  /  LOCAL MEASUREMENTS, NOT NVIDIA RESULTS</a:t>
            </a:r>
            <a:endParaRPr lang="en-150" sz="800">
              <a:solidFill>
                <a:srgbClr val="647581"/>
              </a:solidFill>
              <a:latin typeface="Aptos" panose="020B0004020202020204" pitchFamily="34" charset="0"/>
            </a:endParaRPr>
          </a:p>
        </p:txBody>
      </p:sp>
      <p:sp>
        <p:nvSpPr>
          <p:cNvPr id="10" name="TextBox 9">
            <a:extLst>
              <a:ext uri="{FF2B5EF4-FFF2-40B4-BE49-F238E27FC236}">
                <a16:creationId xmlns:a16="http://schemas.microsoft.com/office/drawing/2014/main" id="{8A4A6DD2-7E1D-142C-4761-CDAECD0CA873}"/>
              </a:ext>
            </a:extLst>
          </p:cNvPr>
          <p:cNvSpPr txBox="1"/>
          <p:nvPr/>
        </p:nvSpPr>
        <p:spPr>
          <a:xfrm>
            <a:off x="11290300" y="6426199"/>
            <a:ext cx="482600" cy="279400"/>
          </a:xfrm>
          <a:prstGeom prst="rect">
            <a:avLst/>
          </a:prstGeom>
          <a:noFill/>
        </p:spPr>
        <p:txBody>
          <a:bodyPr vert="horz" wrap="square" lIns="0" tIns="0" rIns="0" bIns="0" rtlCol="0">
            <a:noAutofit/>
          </a:bodyPr>
          <a:lstStyle/>
          <a:p>
            <a:pPr>
              <a:spcAft>
                <a:spcPts val="1000"/>
              </a:spcAft>
            </a:pPr>
            <a:r>
              <a:rPr lang="en-150" sz="1200">
                <a:solidFill>
                  <a:srgbClr val="647581"/>
                </a:solidFill>
                <a:latin typeface="Aptos" panose="020B0004020202020204" pitchFamily="34" charset="0"/>
              </a:rPr>
              <a:t>10</a:t>
            </a:r>
          </a:p>
        </p:txBody>
      </p:sp>
    </p:spTree>
    <p:extLst>
      <p:ext uri="{BB962C8B-B14F-4D97-AF65-F5344CB8AC3E}">
        <p14:creationId xmlns:p14="http://schemas.microsoft.com/office/powerpoint/2010/main" val="2869391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D6DC8A-9385-3C9E-53C8-9E15E9DCB421}"/>
              </a:ext>
            </a:extLst>
          </p:cNvPr>
          <p:cNvSpPr/>
          <p:nvPr/>
        </p:nvSpPr>
        <p:spPr>
          <a:xfrm>
            <a:off x="457200" y="444500"/>
            <a:ext cx="533400" cy="63500"/>
          </a:xfrm>
          <a:prstGeom prst="rect">
            <a:avLst/>
          </a:prstGeom>
          <a:solidFill>
            <a:srgbClr val="00A2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3" name="TextBox 2">
            <a:extLst>
              <a:ext uri="{FF2B5EF4-FFF2-40B4-BE49-F238E27FC236}">
                <a16:creationId xmlns:a16="http://schemas.microsoft.com/office/drawing/2014/main" id="{2973EA8F-A625-9B9E-FBAC-4557043560B9}"/>
              </a:ext>
            </a:extLst>
          </p:cNvPr>
          <p:cNvSpPr txBox="1"/>
          <p:nvPr/>
        </p:nvSpPr>
        <p:spPr>
          <a:xfrm>
            <a:off x="457200" y="660399"/>
            <a:ext cx="11303000" cy="317500"/>
          </a:xfrm>
          <a:prstGeom prst="rect">
            <a:avLst/>
          </a:prstGeom>
          <a:noFill/>
        </p:spPr>
        <p:txBody>
          <a:bodyPr vert="horz" wrap="square" lIns="0" tIns="0" rIns="0" bIns="0" rtlCol="0">
            <a:noAutofit/>
          </a:bodyPr>
          <a:lstStyle/>
          <a:p>
            <a:pPr>
              <a:spcAft>
                <a:spcPts val="1000"/>
              </a:spcAft>
            </a:pPr>
            <a:r>
              <a:rPr lang="en-US" sz="1100" b="1">
                <a:solidFill>
                  <a:srgbClr val="007F83"/>
                </a:solidFill>
                <a:latin typeface="Aptos" panose="020B0004020202020204" pitchFamily="34" charset="0"/>
              </a:rPr>
              <a:t>ENGINEERING EVIDENCE</a:t>
            </a:r>
            <a:endParaRPr lang="en-150" sz="1100" b="1">
              <a:solidFill>
                <a:srgbClr val="007F83"/>
              </a:solidFill>
              <a:latin typeface="Aptos" panose="020B0004020202020204" pitchFamily="34" charset="0"/>
            </a:endParaRPr>
          </a:p>
        </p:txBody>
      </p:sp>
      <p:sp>
        <p:nvSpPr>
          <p:cNvPr id="4" name="TextBox 3">
            <a:extLst>
              <a:ext uri="{FF2B5EF4-FFF2-40B4-BE49-F238E27FC236}">
                <a16:creationId xmlns:a16="http://schemas.microsoft.com/office/drawing/2014/main" id="{1F45003C-D137-B86A-50DB-2E448580CE0B}"/>
              </a:ext>
            </a:extLst>
          </p:cNvPr>
          <p:cNvSpPr txBox="1"/>
          <p:nvPr/>
        </p:nvSpPr>
        <p:spPr>
          <a:xfrm>
            <a:off x="457200" y="1117599"/>
            <a:ext cx="11303000" cy="1016000"/>
          </a:xfrm>
          <a:prstGeom prst="rect">
            <a:avLst/>
          </a:prstGeom>
          <a:noFill/>
        </p:spPr>
        <p:txBody>
          <a:bodyPr vert="horz" wrap="square" lIns="0" tIns="0" rIns="0" bIns="0" rtlCol="0">
            <a:noAutofit/>
          </a:bodyPr>
          <a:lstStyle/>
          <a:p>
            <a:pPr>
              <a:spcAft>
                <a:spcPts val="1000"/>
              </a:spcAft>
            </a:pPr>
            <a:r>
              <a:rPr lang="en-US" sz="2900" b="1">
                <a:solidFill>
                  <a:srgbClr val="173347"/>
                </a:solidFill>
                <a:latin typeface="Aptos" panose="020B0004020202020204" pitchFamily="34" charset="0"/>
              </a:rPr>
              <a:t>A recoverable run with a visible resource budget</a:t>
            </a:r>
            <a:endParaRPr lang="en-150" sz="2900" b="1">
              <a:solidFill>
                <a:srgbClr val="173347"/>
              </a:solidFill>
              <a:latin typeface="Aptos" panose="020B0004020202020204" pitchFamily="34" charset="0"/>
            </a:endParaRPr>
          </a:p>
        </p:txBody>
      </p:sp>
      <p:sp>
        <p:nvSpPr>
          <p:cNvPr id="5" name="TextBox 4">
            <a:extLst>
              <a:ext uri="{FF2B5EF4-FFF2-40B4-BE49-F238E27FC236}">
                <a16:creationId xmlns:a16="http://schemas.microsoft.com/office/drawing/2014/main" id="{716BCF54-A441-70DE-C71C-BAEB9A34CA3D}"/>
              </a:ext>
            </a:extLst>
          </p:cNvPr>
          <p:cNvSpPr txBox="1"/>
          <p:nvPr/>
        </p:nvSpPr>
        <p:spPr>
          <a:xfrm>
            <a:off x="609600" y="2412999"/>
            <a:ext cx="10858500" cy="3708400"/>
          </a:xfrm>
          <a:prstGeom prst="rect">
            <a:avLst/>
          </a:prstGeom>
          <a:noFill/>
        </p:spPr>
        <p:txBody>
          <a:bodyPr vert="horz" wrap="square" lIns="0" tIns="0" rIns="0" bIns="0" rtlCol="0">
            <a:noAutofit/>
          </a:bodyPr>
          <a:lstStyle/>
          <a:p>
            <a:pPr>
              <a:spcAft>
                <a:spcPts val="1000"/>
              </a:spcAft>
            </a:pPr>
            <a:r>
              <a:rPr lang="en-US" sz="2100">
                <a:solidFill>
                  <a:srgbClr val="173347"/>
                </a:solidFill>
                <a:latin typeface="Aptos" panose="020B0004020202020204" pitchFamily="34" charset="0"/>
              </a:rPr>
              <a:t>Max main training allocation: 5.19 GiB.</a:t>
            </a:r>
          </a:p>
          <a:p>
            <a:pPr>
              <a:spcAft>
                <a:spcPts val="1000"/>
              </a:spcAft>
            </a:pPr>
            <a:r>
              <a:rPr lang="en-US" sz="2100">
                <a:solidFill>
                  <a:srgbClr val="173347"/>
                </a:solidFill>
                <a:latin typeface="Aptos" panose="020B0004020202020204" pitchFamily="34" charset="0"/>
              </a:rPr>
              <a:t>Max sampled training GPU temperature: 65°C.</a:t>
            </a:r>
          </a:p>
          <a:p>
            <a:pPr>
              <a:spcAft>
                <a:spcPts val="1000"/>
              </a:spcAft>
            </a:pPr>
            <a:r>
              <a:rPr lang="en-US" sz="2100">
                <a:solidFill>
                  <a:srgbClr val="173347"/>
                </a:solidFill>
                <a:latin typeface="Aptos" panose="020B0004020202020204" pitchFamily="34" charset="0"/>
              </a:rPr>
              <a:t>Peak target shard payload: 2.30 GiB.</a:t>
            </a:r>
          </a:p>
          <a:p>
            <a:pPr>
              <a:spcAft>
                <a:spcPts val="1000"/>
              </a:spcAft>
            </a:pPr>
            <a:r>
              <a:rPr lang="en-US" sz="2100">
                <a:solidFill>
                  <a:srgbClr val="173347"/>
                </a:solidFill>
                <a:latin typeface="Aptos" panose="020B0004020202020204" pitchFamily="34" charset="0"/>
              </a:rPr>
              <a:t>Hash-verified checkpoints, corruption fallback, STOP / RESUME.</a:t>
            </a:r>
          </a:p>
          <a:p>
            <a:pPr>
              <a:spcAft>
                <a:spcPts val="1000"/>
              </a:spcAft>
            </a:pPr>
            <a:r>
              <a:rPr lang="en-US" sz="2100">
                <a:solidFill>
                  <a:srgbClr val="173347"/>
                </a:solidFill>
                <a:latin typeface="Aptos" panose="020B0004020202020204" pitchFamily="34" charset="0"/>
              </a:rPr>
              <a:t>All final adapters retained; one merged representative exported.</a:t>
            </a:r>
            <a:endParaRPr lang="en-150" sz="2100">
              <a:solidFill>
                <a:srgbClr val="173347"/>
              </a:solidFill>
              <a:latin typeface="Aptos" panose="020B0004020202020204" pitchFamily="34" charset="0"/>
            </a:endParaRPr>
          </a:p>
        </p:txBody>
      </p:sp>
      <p:sp>
        <p:nvSpPr>
          <p:cNvPr id="6" name="TextBox 5">
            <a:extLst>
              <a:ext uri="{FF2B5EF4-FFF2-40B4-BE49-F238E27FC236}">
                <a16:creationId xmlns:a16="http://schemas.microsoft.com/office/drawing/2014/main" id="{C7EF55FF-9B4A-E159-D471-722BAA349136}"/>
              </a:ext>
            </a:extLst>
          </p:cNvPr>
          <p:cNvSpPr txBox="1"/>
          <p:nvPr/>
        </p:nvSpPr>
        <p:spPr>
          <a:xfrm>
            <a:off x="457200" y="6489700"/>
            <a:ext cx="10414000" cy="203200"/>
          </a:xfrm>
          <a:prstGeom prst="rect">
            <a:avLst/>
          </a:prstGeom>
          <a:noFill/>
        </p:spPr>
        <p:txBody>
          <a:bodyPr vert="horz" wrap="square" lIns="0" tIns="0" rIns="0" bIns="0" rtlCol="0">
            <a:noAutofit/>
          </a:bodyPr>
          <a:lstStyle/>
          <a:p>
            <a:pPr>
              <a:spcAft>
                <a:spcPts val="1000"/>
              </a:spcAft>
            </a:pPr>
            <a:r>
              <a:rPr lang="en-US" sz="800">
                <a:solidFill>
                  <a:srgbClr val="647581"/>
                </a:solidFill>
                <a:latin typeface="Aptos" panose="020B0004020202020204" pitchFamily="34" charset="0"/>
              </a:rPr>
              <a:t>MINITRON-INSPIRED  /  BUILT WITH QWEN  /  LOCAL MEASUREMENTS, NOT NVIDIA RESULTS</a:t>
            </a:r>
            <a:endParaRPr lang="en-150" sz="800">
              <a:solidFill>
                <a:srgbClr val="647581"/>
              </a:solidFill>
              <a:latin typeface="Aptos" panose="020B0004020202020204" pitchFamily="34" charset="0"/>
            </a:endParaRPr>
          </a:p>
        </p:txBody>
      </p:sp>
      <p:sp>
        <p:nvSpPr>
          <p:cNvPr id="7" name="TextBox 6">
            <a:extLst>
              <a:ext uri="{FF2B5EF4-FFF2-40B4-BE49-F238E27FC236}">
                <a16:creationId xmlns:a16="http://schemas.microsoft.com/office/drawing/2014/main" id="{5F9AF39A-18A6-573E-D199-7D99D7AAEC49}"/>
              </a:ext>
            </a:extLst>
          </p:cNvPr>
          <p:cNvSpPr txBox="1"/>
          <p:nvPr/>
        </p:nvSpPr>
        <p:spPr>
          <a:xfrm>
            <a:off x="11290300" y="6426199"/>
            <a:ext cx="482600" cy="279400"/>
          </a:xfrm>
          <a:prstGeom prst="rect">
            <a:avLst/>
          </a:prstGeom>
          <a:noFill/>
        </p:spPr>
        <p:txBody>
          <a:bodyPr vert="horz" wrap="square" lIns="0" tIns="0" rIns="0" bIns="0" rtlCol="0">
            <a:noAutofit/>
          </a:bodyPr>
          <a:lstStyle/>
          <a:p>
            <a:pPr>
              <a:spcAft>
                <a:spcPts val="1000"/>
              </a:spcAft>
            </a:pPr>
            <a:r>
              <a:rPr lang="en-150" sz="1200">
                <a:solidFill>
                  <a:srgbClr val="647581"/>
                </a:solidFill>
                <a:latin typeface="Aptos" panose="020B0004020202020204" pitchFamily="34" charset="0"/>
              </a:rPr>
              <a:t>11</a:t>
            </a:r>
          </a:p>
        </p:txBody>
      </p:sp>
    </p:spTree>
    <p:extLst>
      <p:ext uri="{BB962C8B-B14F-4D97-AF65-F5344CB8AC3E}">
        <p14:creationId xmlns:p14="http://schemas.microsoft.com/office/powerpoint/2010/main" val="3419317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57C315-63F0-2162-1F58-9754E494B0D9}"/>
              </a:ext>
            </a:extLst>
          </p:cNvPr>
          <p:cNvSpPr/>
          <p:nvPr/>
        </p:nvSpPr>
        <p:spPr>
          <a:xfrm>
            <a:off x="457200" y="444500"/>
            <a:ext cx="533400" cy="63500"/>
          </a:xfrm>
          <a:prstGeom prst="rect">
            <a:avLst/>
          </a:prstGeom>
          <a:solidFill>
            <a:srgbClr val="00A2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3" name="TextBox 2">
            <a:extLst>
              <a:ext uri="{FF2B5EF4-FFF2-40B4-BE49-F238E27FC236}">
                <a16:creationId xmlns:a16="http://schemas.microsoft.com/office/drawing/2014/main" id="{AC15B783-0D3A-2D9F-35DF-006F6A0D506F}"/>
              </a:ext>
            </a:extLst>
          </p:cNvPr>
          <p:cNvSpPr txBox="1"/>
          <p:nvPr/>
        </p:nvSpPr>
        <p:spPr>
          <a:xfrm>
            <a:off x="457200" y="660399"/>
            <a:ext cx="11303000" cy="317500"/>
          </a:xfrm>
          <a:prstGeom prst="rect">
            <a:avLst/>
          </a:prstGeom>
          <a:noFill/>
        </p:spPr>
        <p:txBody>
          <a:bodyPr vert="horz" wrap="square" lIns="0" tIns="0" rIns="0" bIns="0" rtlCol="0">
            <a:noAutofit/>
          </a:bodyPr>
          <a:lstStyle/>
          <a:p>
            <a:pPr>
              <a:spcAft>
                <a:spcPts val="1000"/>
              </a:spcAft>
            </a:pPr>
            <a:r>
              <a:rPr lang="en-US" sz="1100" b="1">
                <a:solidFill>
                  <a:srgbClr val="007F83"/>
                </a:solidFill>
                <a:latin typeface="Aptos" panose="020B0004020202020204" pitchFamily="34" charset="0"/>
              </a:rPr>
              <a:t>CONCLUSION + REPRODUCIBILITY</a:t>
            </a:r>
            <a:endParaRPr lang="en-150" sz="1100" b="1">
              <a:solidFill>
                <a:srgbClr val="007F83"/>
              </a:solidFill>
              <a:latin typeface="Aptos" panose="020B0004020202020204" pitchFamily="34" charset="0"/>
            </a:endParaRPr>
          </a:p>
        </p:txBody>
      </p:sp>
      <p:sp>
        <p:nvSpPr>
          <p:cNvPr id="4" name="TextBox 3">
            <a:extLst>
              <a:ext uri="{FF2B5EF4-FFF2-40B4-BE49-F238E27FC236}">
                <a16:creationId xmlns:a16="http://schemas.microsoft.com/office/drawing/2014/main" id="{5BF07C45-E9A9-D571-F518-74DC37208160}"/>
              </a:ext>
            </a:extLst>
          </p:cNvPr>
          <p:cNvSpPr txBox="1"/>
          <p:nvPr/>
        </p:nvSpPr>
        <p:spPr>
          <a:xfrm>
            <a:off x="457200" y="1117599"/>
            <a:ext cx="11303000" cy="1016000"/>
          </a:xfrm>
          <a:prstGeom prst="rect">
            <a:avLst/>
          </a:prstGeom>
          <a:noFill/>
        </p:spPr>
        <p:txBody>
          <a:bodyPr vert="horz" wrap="square" lIns="0" tIns="0" rIns="0" bIns="0" rtlCol="0">
            <a:noAutofit/>
          </a:bodyPr>
          <a:lstStyle/>
          <a:p>
            <a:pPr>
              <a:spcAft>
                <a:spcPts val="1000"/>
              </a:spcAft>
            </a:pPr>
            <a:r>
              <a:rPr lang="en-US" sz="2900" b="1">
                <a:solidFill>
                  <a:srgbClr val="173347"/>
                </a:solidFill>
                <a:latin typeface="Aptos" panose="020B0004020202020204" pitchFamily="34" charset="0"/>
              </a:rPr>
              <a:t>What this project establishes—and what it does not</a:t>
            </a:r>
            <a:endParaRPr lang="en-150" sz="2900" b="1">
              <a:solidFill>
                <a:srgbClr val="173347"/>
              </a:solidFill>
              <a:latin typeface="Aptos" panose="020B0004020202020204" pitchFamily="34" charset="0"/>
            </a:endParaRPr>
          </a:p>
        </p:txBody>
      </p:sp>
      <p:sp>
        <p:nvSpPr>
          <p:cNvPr id="5" name="TextBox 4">
            <a:extLst>
              <a:ext uri="{FF2B5EF4-FFF2-40B4-BE49-F238E27FC236}">
                <a16:creationId xmlns:a16="http://schemas.microsoft.com/office/drawing/2014/main" id="{00228716-F474-8FE5-226B-3E5F77D63616}"/>
              </a:ext>
            </a:extLst>
          </p:cNvPr>
          <p:cNvSpPr txBox="1"/>
          <p:nvPr/>
        </p:nvSpPr>
        <p:spPr>
          <a:xfrm>
            <a:off x="609600" y="2412999"/>
            <a:ext cx="10858500" cy="3708400"/>
          </a:xfrm>
          <a:prstGeom prst="rect">
            <a:avLst/>
          </a:prstGeom>
          <a:noFill/>
        </p:spPr>
        <p:txBody>
          <a:bodyPr vert="horz" wrap="square" lIns="0" tIns="0" rIns="0" bIns="0" rtlCol="0">
            <a:noAutofit/>
          </a:bodyPr>
          <a:lstStyle/>
          <a:p>
            <a:pPr>
              <a:spcAft>
                <a:spcPts val="1000"/>
              </a:spcAft>
            </a:pPr>
            <a:r>
              <a:rPr lang="en-US" sz="2100">
                <a:solidFill>
                  <a:srgbClr val="173347"/>
                </a:solidFill>
                <a:latin typeface="Aptos" panose="020B0004020202020204" pitchFamily="34" charset="0"/>
              </a:rPr>
              <a:t>Immediate NLL ranking persisted in 4/6 seed pairs—not universally.</a:t>
            </a:r>
          </a:p>
          <a:p>
            <a:pPr>
              <a:spcAft>
                <a:spcPts val="1000"/>
              </a:spcAft>
            </a:pPr>
            <a:r>
              <a:rPr lang="en-US" sz="2100">
                <a:solidFill>
                  <a:srgbClr val="173347"/>
                </a:solidFill>
                <a:latin typeface="Aptos" panose="020B0004020202020204" pitchFamily="34" charset="0"/>
              </a:rPr>
              <a:t>Executed CPU/GPU protocol, Pareto analysis, sensitivity and objective controls.</a:t>
            </a:r>
          </a:p>
          <a:p>
            <a:pPr>
              <a:spcAft>
                <a:spcPts val="1000"/>
              </a:spcAft>
            </a:pPr>
            <a:r>
              <a:rPr lang="en-US" sz="2100">
                <a:solidFill>
                  <a:srgbClr val="173347"/>
                </a:solidFill>
                <a:latin typeface="Aptos" panose="020B0004020202020204" pitchFamily="34" charset="0"/>
              </a:rPr>
              <a:t>Not an official NVIDIA-scale reproduction or production chatbot.</a:t>
            </a:r>
          </a:p>
          <a:p>
            <a:pPr>
              <a:spcAft>
                <a:spcPts val="1000"/>
              </a:spcAft>
            </a:pPr>
            <a:r>
              <a:rPr lang="en-US" sz="2100">
                <a:solidFill>
                  <a:srgbClr val="173347"/>
                </a:solidFill>
                <a:latin typeface="Aptos" panose="020B0004020202020204" pitchFamily="34" charset="0"/>
              </a:rPr>
              <a:t>Limits: one family/machine, 3 seeds, short context, custom PIQA, no teacher correction.</a:t>
            </a:r>
          </a:p>
          <a:p>
            <a:pPr>
              <a:spcAft>
                <a:spcPts val="1000"/>
              </a:spcAft>
            </a:pPr>
            <a:r>
              <a:rPr lang="en-US" sz="2100">
                <a:solidFill>
                  <a:srgbClr val="173347"/>
                </a:solidFill>
                <a:latin typeface="Aptos" panose="020B0004020202020204" pitchFamily="34" charset="0"/>
              </a:rPr>
              <a:t>Code, raw evidence, recipes, adapters, report and reproduction guide.</a:t>
            </a:r>
            <a:endParaRPr lang="en-150" sz="2100">
              <a:solidFill>
                <a:srgbClr val="173347"/>
              </a:solidFill>
              <a:latin typeface="Aptos" panose="020B0004020202020204" pitchFamily="34" charset="0"/>
            </a:endParaRPr>
          </a:p>
        </p:txBody>
      </p:sp>
      <p:sp>
        <p:nvSpPr>
          <p:cNvPr id="6" name="TextBox 5">
            <a:extLst>
              <a:ext uri="{FF2B5EF4-FFF2-40B4-BE49-F238E27FC236}">
                <a16:creationId xmlns:a16="http://schemas.microsoft.com/office/drawing/2014/main" id="{49BF9C8F-3776-B891-0909-E47DFCF66AC5}"/>
              </a:ext>
            </a:extLst>
          </p:cNvPr>
          <p:cNvSpPr txBox="1"/>
          <p:nvPr/>
        </p:nvSpPr>
        <p:spPr>
          <a:xfrm>
            <a:off x="457200" y="6489700"/>
            <a:ext cx="10414000" cy="203200"/>
          </a:xfrm>
          <a:prstGeom prst="rect">
            <a:avLst/>
          </a:prstGeom>
          <a:noFill/>
        </p:spPr>
        <p:txBody>
          <a:bodyPr vert="horz" wrap="square" lIns="0" tIns="0" rIns="0" bIns="0" rtlCol="0">
            <a:noAutofit/>
          </a:bodyPr>
          <a:lstStyle/>
          <a:p>
            <a:pPr>
              <a:spcAft>
                <a:spcPts val="1000"/>
              </a:spcAft>
            </a:pPr>
            <a:r>
              <a:rPr lang="en-US" sz="800">
                <a:solidFill>
                  <a:srgbClr val="647581"/>
                </a:solidFill>
                <a:latin typeface="Aptos" panose="020B0004020202020204" pitchFamily="34" charset="0"/>
              </a:rPr>
              <a:t>MINITRON-INSPIRED  /  BUILT WITH QWEN  /  LOCAL MEASUREMENTS, NOT NVIDIA RESULTS</a:t>
            </a:r>
            <a:endParaRPr lang="en-150" sz="800">
              <a:solidFill>
                <a:srgbClr val="647581"/>
              </a:solidFill>
              <a:latin typeface="Aptos" panose="020B0004020202020204" pitchFamily="34" charset="0"/>
            </a:endParaRPr>
          </a:p>
        </p:txBody>
      </p:sp>
      <p:sp>
        <p:nvSpPr>
          <p:cNvPr id="7" name="TextBox 6">
            <a:extLst>
              <a:ext uri="{FF2B5EF4-FFF2-40B4-BE49-F238E27FC236}">
                <a16:creationId xmlns:a16="http://schemas.microsoft.com/office/drawing/2014/main" id="{47084A2E-ABCA-6E55-4513-D045DA9007AA}"/>
              </a:ext>
            </a:extLst>
          </p:cNvPr>
          <p:cNvSpPr txBox="1"/>
          <p:nvPr/>
        </p:nvSpPr>
        <p:spPr>
          <a:xfrm>
            <a:off x="11290300" y="6426199"/>
            <a:ext cx="482600" cy="279400"/>
          </a:xfrm>
          <a:prstGeom prst="rect">
            <a:avLst/>
          </a:prstGeom>
          <a:noFill/>
        </p:spPr>
        <p:txBody>
          <a:bodyPr vert="horz" wrap="square" lIns="0" tIns="0" rIns="0" bIns="0" rtlCol="0">
            <a:noAutofit/>
          </a:bodyPr>
          <a:lstStyle/>
          <a:p>
            <a:pPr>
              <a:spcAft>
                <a:spcPts val="1000"/>
              </a:spcAft>
            </a:pPr>
            <a:r>
              <a:rPr lang="en-150" sz="1200">
                <a:solidFill>
                  <a:srgbClr val="647581"/>
                </a:solidFill>
                <a:latin typeface="Aptos" panose="020B0004020202020204" pitchFamily="34" charset="0"/>
              </a:rPr>
              <a:t>12</a:t>
            </a:r>
          </a:p>
        </p:txBody>
      </p:sp>
    </p:spTree>
    <p:extLst>
      <p:ext uri="{BB962C8B-B14F-4D97-AF65-F5344CB8AC3E}">
        <p14:creationId xmlns:p14="http://schemas.microsoft.com/office/powerpoint/2010/main" val="3081593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1513</Words>
  <Application>Microsoft Office PowerPoint</Application>
  <PresentationFormat>Custom</PresentationFormat>
  <Paragraphs>128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Rohan Meshram</dc:creator>
  <cp:lastModifiedBy>Rohan Meshram</cp:lastModifiedBy>
  <cp:revision>1</cp:revision>
  <dcterms:created xsi:type="dcterms:W3CDTF">2026-10-26T16:38:14Z</dcterms:created>
  <dcterms:modified xsi:type="dcterms:W3CDTF">2026-10-26T16:38:14Z</dcterms:modified>
</cp:coreProperties>
</file>